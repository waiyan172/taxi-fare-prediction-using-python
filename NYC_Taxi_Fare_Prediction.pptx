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this project predicts the fare of an NYC taxi trip from its details, and wraps the trained model in a small web app. Two halves: train a model on Kaggle, then serve it through an app. Plan to spend ~15 minutes; keep ~1 minute per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in plain terms: fare is driven mainly by distance, plus time of day and rate type. The goal is three deliverables: a model, an honest evaluation, and a usable app. Stress 'honest' — we will report real numbers, including weaknesses.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one row = one trip. The key decision is the target: fare_amount, the pure meter fare. Tell the audience we will see in a moment why we deliberately do NOT predict total_amount.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shows understanding. Explain leakage simply: if you train on total_amount you are basically handing the model the fare plus extras. Dropoff time leaks trip duration. Examiners love this point — emphasise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quickly. Highlight that hour/day/month are engineered from the pickup datetime — the same engineering is repeated later in the app. Explain one-hot encoding for the rate code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tall bars on the left: the typical trip is short and cheap. Mention the right skew, and call out the little bump near $70 — that is the JFK flat rate, which comes back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EDA chart. The tight diagonal band tells us a model should do well. Explain the flat $70 line: JFK trips charge a fixed fare, so distance does not change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quick reads. Left: hour of day barely changes the average fare — note the small spike around 5am. Right: rate type is a big lever — standard trips are ~$17, airport and special rates are $70+. This is why we kept the rate code as a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top-left of the matrix: fare vs distance is 0.93 — very strong. Everything else is near zero. This foreshadows the feature-importance result later: distance does almost all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six steps left to right, top to bottom. Emphasise step 4: we test on data the model never saw, so the scores are honest. Random Forest is an average of many decision trees; Linear Regression is the simple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a programming slide. Three files: the notebook trains and saves the model, app.py serves it, and the .pkl connects them. Then explain each library and why I chose it. This shows program design, not just 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code line by line. Emphasise that I engineered new columns from a raw timestamp — that is real Python data work. get_dummies is how the rate code becomes six yes/no columns. The yellow line builds the final feature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two programming ideas: an if-expression that auto-selects the best model, and the bundle pattern in yellow — saving the model together with its feature list so the app never guesses the columns. This is the link between training and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key slide for a programming class — it shows debugging skill. Tell each story briefly: the memory crash and how I made the forest leaner; the version mismatch; and the column-matching fix with reindex. Real bugs solved earn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verdict: Random Forest wins on every metric. Translate the numbers: R-squared 0.918 means it explains about 92% of fare variation; MAE 2.63 means the typical prediction is within about $2.63. RMSE is higher than MAE because a few long trips have big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red dashed line: if a prediction were perfect, the dot would land on it. Most dots are close to the line, which is visual proof the model works. Be honest: the spread grows for expensive trips.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the correlation slide: distance dominates, as expected. Be candid — most of the predictive power is distance. That is realistic for taxi fares, and it is fine to say so. The other features fine-tune the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two-file split: only the 7.2 MB model and app.py are needed locally, not the 500 MB dataset. The single most important line in the app is the reindex step that forces the user input to match the training columns in the same order. The mock on the right shows the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confidently but honestly. Lead with the achievement: a complete, working pipeline plus an app. Then own the limitations — base fare only, distance-dominated, single city/year. End on concrete next steps: geographic zone features and online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one-line story: distance-driven fare model, honestly evaluated, delivered as a working app. Invite questions. Likely questions: why fare_amount not total_amount (leakage); why Random Forest (lower error on all metrics); how the app matches columns (reindex).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548640" y="1371600"/>
            <a:ext cx="310896" cy="310896"/>
          </a:xfrm>
          <a:prstGeom prst="roundRect">
            <a:avLst>
              <a:gd name="adj" fmla="val 14706"/>
            </a:avLst>
          </a:prstGeom>
          <a:solidFill>
            <a:srgbClr val="F5B301"/>
          </a:solidFill>
          <a:ln/>
        </p:spPr>
      </p:sp>
      <p:sp>
        <p:nvSpPr>
          <p:cNvPr id="3" name="Shape 1"/>
          <p:cNvSpPr/>
          <p:nvPr/>
        </p:nvSpPr>
        <p:spPr>
          <a:xfrm>
            <a:off x="1005840" y="1371600"/>
            <a:ext cx="310896" cy="310896"/>
          </a:xfrm>
          <a:prstGeom prst="roundRect">
            <a:avLst>
              <a:gd name="adj" fmla="val 14706"/>
            </a:avLst>
          </a:prstGeom>
          <a:solidFill>
            <a:srgbClr val="F5B301"/>
          </a:solidFill>
          <a:ln/>
        </p:spPr>
      </p:sp>
      <p:sp>
        <p:nvSpPr>
          <p:cNvPr id="4" name="Shape 2"/>
          <p:cNvSpPr/>
          <p:nvPr/>
        </p:nvSpPr>
        <p:spPr>
          <a:xfrm>
            <a:off x="1463040" y="1371600"/>
            <a:ext cx="310896" cy="310896"/>
          </a:xfrm>
          <a:prstGeom prst="roundRect">
            <a:avLst>
              <a:gd name="adj" fmla="val 14706"/>
            </a:avLst>
          </a:prstGeom>
          <a:solidFill>
            <a:srgbClr val="F5B301"/>
          </a:solidFill>
          <a:ln/>
        </p:spPr>
      </p:sp>
      <p:sp>
        <p:nvSpPr>
          <p:cNvPr id="5" name="Text 3"/>
          <p:cNvSpPr/>
          <p:nvPr/>
        </p:nvSpPr>
        <p:spPr>
          <a:xfrm>
            <a:off x="548640" y="2103120"/>
            <a:ext cx="11091672" cy="118872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NYC Taxi Fare Prediction</a:t>
            </a:r>
            <a:endParaRPr lang="en-US" sz="5400" dirty="0"/>
          </a:p>
        </p:txBody>
      </p:sp>
      <p:sp>
        <p:nvSpPr>
          <p:cNvPr id="6" name="Text 4"/>
          <p:cNvSpPr/>
          <p:nvPr/>
        </p:nvSpPr>
        <p:spPr>
          <a:xfrm>
            <a:off x="548640" y="3383280"/>
            <a:ext cx="11091672" cy="548640"/>
          </a:xfrm>
          <a:prstGeom prst="rect">
            <a:avLst/>
          </a:prstGeom>
          <a:noFill/>
          <a:ln/>
        </p:spPr>
        <p:txBody>
          <a:bodyPr wrap="square" lIns="0" tIns="0" rIns="0" bIns="0" rtlCol="0" anchor="ctr"/>
          <a:lstStyle/>
          <a:p>
            <a:pPr indent="0" marL="0">
              <a:buNone/>
            </a:pPr>
            <a:r>
              <a:rPr lang="en-US" sz="2000" dirty="0">
                <a:solidFill>
                  <a:srgbClr val="F5B301"/>
                </a:solidFill>
                <a:latin typeface="Calibri" pitchFamily="34" charset="0"/>
                <a:ea typeface="Calibri" pitchFamily="34" charset="-122"/>
                <a:cs typeface="Calibri" pitchFamily="34" charset="-120"/>
              </a:rPr>
              <a:t>Predicting trip fares with machine learning — and a web app to use it</a:t>
            </a:r>
            <a:endParaRPr lang="en-US" sz="2000" dirty="0"/>
          </a:p>
        </p:txBody>
      </p:sp>
      <p:sp>
        <p:nvSpPr>
          <p:cNvPr id="7" name="Text 5"/>
          <p:cNvSpPr/>
          <p:nvPr/>
        </p:nvSpPr>
        <p:spPr>
          <a:xfrm>
            <a:off x="548640" y="5577840"/>
            <a:ext cx="7315200" cy="7315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Wai Yan Tun</a:t>
            </a:r>
            <a:endParaRPr lang="en-US" sz="1400" dirty="0"/>
          </a:p>
          <a:p>
            <a:pPr indent="0" marL="0">
              <a:buNone/>
            </a:pPr>
            <a:r>
              <a:rPr lang="en-US" sz="1400" dirty="0">
                <a:solidFill>
                  <a:srgbClr val="8A8A8A"/>
                </a:solidFill>
                <a:latin typeface="Calibri" pitchFamily="34" charset="0"/>
                <a:ea typeface="Calibri" pitchFamily="34" charset="-122"/>
                <a:cs typeface="Calibri" pitchFamily="34" charset="-120"/>
              </a:rPr>
              <a:t>Python Programming — Pre Course Project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237744" cy="237744"/>
          </a:xfrm>
          <a:prstGeom prst="roundRect">
            <a:avLst>
              <a:gd name="adj" fmla="val 15385"/>
            </a:avLst>
          </a:prstGeom>
          <a:solidFill>
            <a:srgbClr val="F5B301"/>
          </a:solidFill>
          <a:ln/>
        </p:spPr>
      </p:sp>
      <p:sp>
        <p:nvSpPr>
          <p:cNvPr id="3" name="Text 1"/>
          <p:cNvSpPr/>
          <p:nvPr/>
        </p:nvSpPr>
        <p:spPr>
          <a:xfrm>
            <a:off x="932688" y="310896"/>
            <a:ext cx="10707624" cy="640080"/>
          </a:xfrm>
          <a:prstGeom prst="rect">
            <a:avLst/>
          </a:prstGeom>
          <a:noFill/>
          <a:ln/>
        </p:spPr>
        <p:txBody>
          <a:bodyPr wrap="square" lIns="0" tIns="0" rIns="0" bIns="0" rtlCol="0" anchor="ctr"/>
          <a:lstStyle/>
          <a:p>
            <a:pPr algn="l" indent="0" marL="0">
              <a:buNone/>
            </a:pPr>
            <a:r>
              <a:rPr lang="en-US" sz="3000" b="1" dirty="0">
                <a:solidFill>
                  <a:srgbClr val="1A1A1A"/>
                </a:solidFill>
                <a:latin typeface="Calibri" pitchFamily="34" charset="0"/>
                <a:ea typeface="Calibri" pitchFamily="34" charset="-122"/>
                <a:cs typeface="Calibri" pitchFamily="34" charset="-120"/>
              </a:rPr>
              <a:t>The Problem &amp; Goal</a:t>
            </a:r>
            <a:endParaRPr lang="en-US" sz="3000" dirty="0"/>
          </a:p>
        </p:txBody>
      </p:sp>
      <p:sp>
        <p:nvSpPr>
          <p:cNvPr id="4" name="Text 2"/>
          <p:cNvSpPr/>
          <p:nvPr/>
        </p:nvSpPr>
        <p:spPr>
          <a:xfrm>
            <a:off x="548640" y="1234440"/>
            <a:ext cx="6035040" cy="1280160"/>
          </a:xfrm>
          <a:prstGeom prst="rect">
            <a:avLst/>
          </a:prstGeom>
          <a:noFill/>
          <a:ln/>
        </p:spPr>
        <p:txBody>
          <a:bodyPr wrap="square" lIns="0" tIns="0" rIns="0" bIns="0" rtlCol="0" anchor="t"/>
          <a:lstStyle/>
          <a:p>
            <a:pPr indent="0" marL="0">
              <a:buNone/>
            </a:pPr>
            <a:r>
              <a:rPr lang="en-US" sz="1700" dirty="0">
                <a:solidFill>
                  <a:srgbClr val="555555"/>
                </a:solidFill>
                <a:latin typeface="Calibri" pitchFamily="34" charset="0"/>
                <a:ea typeface="Calibri" pitchFamily="34" charset="-122"/>
                <a:cs typeface="Calibri" pitchFamily="34" charset="-120"/>
              </a:rPr>
              <a:t>Taxi fares depend on how far you go, when you travel, and the rate type. Can a model learn that relationship from past trips and estimate the fare before the ride?</a:t>
            </a:r>
            <a:endParaRPr lang="en-US" sz="1700" dirty="0"/>
          </a:p>
        </p:txBody>
      </p:sp>
      <p:sp>
        <p:nvSpPr>
          <p:cNvPr id="5" name="Text 3"/>
          <p:cNvSpPr/>
          <p:nvPr/>
        </p:nvSpPr>
        <p:spPr>
          <a:xfrm>
            <a:off x="548640" y="2651760"/>
            <a:ext cx="6035040" cy="365760"/>
          </a:xfrm>
          <a:prstGeom prst="rect">
            <a:avLst/>
          </a:prstGeom>
          <a:noFill/>
          <a:ln/>
        </p:spPr>
        <p:txBody>
          <a:bodyPr wrap="square" lIns="0" tIns="0" rIns="0" bIns="0"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Project goals</a:t>
            </a:r>
            <a:endParaRPr lang="en-US" sz="1800" dirty="0"/>
          </a:p>
        </p:txBody>
      </p:sp>
      <p:sp>
        <p:nvSpPr>
          <p:cNvPr id="6" name="Text 4"/>
          <p:cNvSpPr/>
          <p:nvPr/>
        </p:nvSpPr>
        <p:spPr>
          <a:xfrm>
            <a:off x="548640" y="3108960"/>
            <a:ext cx="6035040" cy="2194560"/>
          </a:xfrm>
          <a:prstGeom prst="rect">
            <a:avLst/>
          </a:prstGeom>
          <a:noFill/>
          <a:ln/>
        </p:spPr>
        <p:txBody>
          <a:bodyPr wrap="square" lIns="0" tIns="0" rIns="0" bIns="0" rtlCol="0" anchor="t"/>
          <a:lstStyle/>
          <a:p>
            <a:pPr algn="l" marL="177800" indent="-177800">
              <a:spcAft>
                <a:spcPts val="800"/>
              </a:spcAft>
              <a:buSzPct val="100000"/>
              <a:buChar char="•"/>
            </a:pPr>
            <a:r>
              <a:rPr lang="en-US" sz="1700" dirty="0">
                <a:solidFill>
                  <a:srgbClr val="555555"/>
                </a:solidFill>
                <a:latin typeface="Calibri" pitchFamily="34" charset="0"/>
                <a:ea typeface="Calibri" pitchFamily="34" charset="-122"/>
                <a:cs typeface="Calibri" pitchFamily="34" charset="-120"/>
              </a:rPr>
              <a:t>Build a model that predicts the base meter fare accurately</a:t>
            </a:r>
            <a:endParaRPr lang="en-US" sz="1700" dirty="0"/>
          </a:p>
          <a:p>
            <a:pPr algn="l" marL="177800" indent="-177800">
              <a:spcAft>
                <a:spcPts val="800"/>
              </a:spcAft>
              <a:buSzPct val="100000"/>
              <a:buChar char="•"/>
            </a:pPr>
            <a:r>
              <a:rPr lang="en-US" sz="1700" dirty="0">
                <a:solidFill>
                  <a:srgbClr val="555555"/>
                </a:solidFill>
                <a:latin typeface="Calibri" pitchFamily="34" charset="0"/>
                <a:ea typeface="Calibri" pitchFamily="34" charset="-122"/>
                <a:cs typeface="Calibri" pitchFamily="34" charset="-120"/>
              </a:rPr>
              <a:t>Compare models honestly with proper metrics</a:t>
            </a:r>
            <a:endParaRPr lang="en-US" sz="1700" dirty="0"/>
          </a:p>
          <a:p>
            <a:pPr algn="l" marL="177800" indent="-177800">
              <a:spcAft>
                <a:spcPts val="800"/>
              </a:spcAft>
              <a:buSzPct val="100000"/>
              <a:buChar char="•"/>
            </a:pPr>
            <a:r>
              <a:rPr lang="en-US" sz="1700" dirty="0">
                <a:solidFill>
                  <a:srgbClr val="555555"/>
                </a:solidFill>
                <a:latin typeface="Calibri" pitchFamily="34" charset="0"/>
                <a:ea typeface="Calibri" pitchFamily="34" charset="-122"/>
                <a:cs typeface="Calibri" pitchFamily="34" charset="-120"/>
              </a:rPr>
              <a:t>Deliver a simple web app anyone can use</a:t>
            </a:r>
            <a:endParaRPr lang="en-US" sz="1700" dirty="0"/>
          </a:p>
        </p:txBody>
      </p:sp>
      <p:sp>
        <p:nvSpPr>
          <p:cNvPr id="7" name="Shape 5"/>
          <p:cNvSpPr/>
          <p:nvPr/>
        </p:nvSpPr>
        <p:spPr>
          <a:xfrm>
            <a:off x="7040880" y="1325880"/>
            <a:ext cx="4572000" cy="1325880"/>
          </a:xfrm>
          <a:prstGeom prst="roundRect">
            <a:avLst>
              <a:gd name="adj" fmla="val 5517"/>
            </a:avLst>
          </a:prstGeom>
          <a:solidFill>
            <a:srgbClr val="F2F2F2"/>
          </a:solidFill>
          <a:ln/>
          <a:effectLst>
            <a:outerShdw sx="100000" sy="100000" kx="0" ky="0" algn="bl" rotWithShape="0" blurRad="88900" dist="38100" dir="5400000">
              <a:srgbClr val="000000">
                <a:alpha val="12000"/>
              </a:srgbClr>
            </a:outerShdw>
          </a:effectLst>
        </p:spPr>
      </p:sp>
      <p:sp>
        <p:nvSpPr>
          <p:cNvPr id="8" name="Text 6"/>
          <p:cNvSpPr/>
          <p:nvPr/>
        </p:nvSpPr>
        <p:spPr>
          <a:xfrm>
            <a:off x="7269480" y="1490472"/>
            <a:ext cx="4206240" cy="365760"/>
          </a:xfrm>
          <a:prstGeom prst="rect">
            <a:avLst/>
          </a:prstGeom>
          <a:noFill/>
          <a:ln/>
        </p:spPr>
        <p:txBody>
          <a:bodyPr wrap="square" lIns="0" tIns="0" rIns="0" bIns="0" rtlCol="0" anchor="ctr"/>
          <a:lstStyle/>
          <a:p>
            <a:pPr indent="0" marL="0">
              <a:buNone/>
            </a:pPr>
            <a:r>
              <a:rPr lang="en-US" sz="1700" b="1" dirty="0">
                <a:solidFill>
                  <a:srgbClr val="B07A00"/>
                </a:solidFill>
                <a:latin typeface="Calibri" pitchFamily="34" charset="0"/>
                <a:ea typeface="Calibri" pitchFamily="34" charset="-122"/>
                <a:cs typeface="Calibri" pitchFamily="34" charset="-120"/>
              </a:rPr>
              <a:t>Model</a:t>
            </a:r>
            <a:endParaRPr lang="en-US" sz="1700" dirty="0"/>
          </a:p>
        </p:txBody>
      </p:sp>
      <p:sp>
        <p:nvSpPr>
          <p:cNvPr id="9" name="Text 7"/>
          <p:cNvSpPr/>
          <p:nvPr/>
        </p:nvSpPr>
        <p:spPr>
          <a:xfrm>
            <a:off x="7269480" y="1892808"/>
            <a:ext cx="4206240" cy="548640"/>
          </a:xfrm>
          <a:prstGeom prst="rect">
            <a:avLst/>
          </a:prstGeom>
          <a:noFill/>
          <a:ln/>
        </p:spPr>
        <p:txBody>
          <a:bodyPr wrap="square" lIns="0" tIns="0" rIns="0" bIns="0" rtlCol="0" anchor="ctr"/>
          <a:lstStyle/>
          <a:p>
            <a:pPr indent="0" marL="0">
              <a:buNone/>
            </a:pPr>
            <a:r>
              <a:rPr lang="en-US" sz="1500" dirty="0">
                <a:solidFill>
                  <a:srgbClr val="555555"/>
                </a:solidFill>
                <a:latin typeface="Calibri" pitchFamily="34" charset="0"/>
                <a:ea typeface="Calibri" pitchFamily="34" charset="-122"/>
                <a:cs typeface="Calibri" pitchFamily="34" charset="-120"/>
              </a:rPr>
              <a:t>Random Forest regressor</a:t>
            </a:r>
            <a:endParaRPr lang="en-US" sz="1500" dirty="0"/>
          </a:p>
        </p:txBody>
      </p:sp>
      <p:sp>
        <p:nvSpPr>
          <p:cNvPr id="10" name="Shape 8"/>
          <p:cNvSpPr/>
          <p:nvPr/>
        </p:nvSpPr>
        <p:spPr>
          <a:xfrm>
            <a:off x="7040880" y="2880360"/>
            <a:ext cx="4572000" cy="1325880"/>
          </a:xfrm>
          <a:prstGeom prst="roundRect">
            <a:avLst>
              <a:gd name="adj" fmla="val 5517"/>
            </a:avLst>
          </a:prstGeom>
          <a:solidFill>
            <a:srgbClr val="F2F2F2"/>
          </a:solidFill>
          <a:ln/>
          <a:effectLst>
            <a:outerShdw sx="100000" sy="100000" kx="0" ky="0" algn="bl" rotWithShape="0" blurRad="88900" dist="38100" dir="5400000">
              <a:srgbClr val="000000">
                <a:alpha val="12000"/>
              </a:srgbClr>
            </a:outerShdw>
          </a:effectLst>
        </p:spPr>
      </p:sp>
      <p:sp>
        <p:nvSpPr>
          <p:cNvPr id="11" name="Text 9"/>
          <p:cNvSpPr/>
          <p:nvPr/>
        </p:nvSpPr>
        <p:spPr>
          <a:xfrm>
            <a:off x="7269480" y="3044952"/>
            <a:ext cx="4206240" cy="365760"/>
          </a:xfrm>
          <a:prstGeom prst="rect">
            <a:avLst/>
          </a:prstGeom>
          <a:noFill/>
          <a:ln/>
        </p:spPr>
        <p:txBody>
          <a:bodyPr wrap="square" lIns="0" tIns="0" rIns="0" bIns="0" rtlCol="0" anchor="ctr"/>
          <a:lstStyle/>
          <a:p>
            <a:pPr indent="0" marL="0">
              <a:buNone/>
            </a:pPr>
            <a:r>
              <a:rPr lang="en-US" sz="1700" b="1" dirty="0">
                <a:solidFill>
                  <a:srgbClr val="B07A00"/>
                </a:solidFill>
                <a:latin typeface="Calibri" pitchFamily="34" charset="0"/>
                <a:ea typeface="Calibri" pitchFamily="34" charset="-122"/>
                <a:cs typeface="Calibri" pitchFamily="34" charset="-120"/>
              </a:rPr>
              <a:t>Evaluation</a:t>
            </a:r>
            <a:endParaRPr lang="en-US" sz="1700" dirty="0"/>
          </a:p>
        </p:txBody>
      </p:sp>
      <p:sp>
        <p:nvSpPr>
          <p:cNvPr id="12" name="Text 10"/>
          <p:cNvSpPr/>
          <p:nvPr/>
        </p:nvSpPr>
        <p:spPr>
          <a:xfrm>
            <a:off x="7269480" y="3447288"/>
            <a:ext cx="4206240" cy="548640"/>
          </a:xfrm>
          <a:prstGeom prst="rect">
            <a:avLst/>
          </a:prstGeom>
          <a:noFill/>
          <a:ln/>
        </p:spPr>
        <p:txBody>
          <a:bodyPr wrap="square" lIns="0" tIns="0" rIns="0" bIns="0" rtlCol="0" anchor="ctr"/>
          <a:lstStyle/>
          <a:p>
            <a:pPr indent="0" marL="0">
              <a:buNone/>
            </a:pPr>
            <a:r>
              <a:rPr lang="en-US" sz="1500" dirty="0">
                <a:solidFill>
                  <a:srgbClr val="555555"/>
                </a:solidFill>
                <a:latin typeface="Calibri" pitchFamily="34" charset="0"/>
                <a:ea typeface="Calibri" pitchFamily="34" charset="-122"/>
                <a:cs typeface="Calibri" pitchFamily="34" charset="-120"/>
              </a:rPr>
              <a:t>RMSE · MAE · R²</a:t>
            </a:r>
            <a:endParaRPr lang="en-US" sz="1500" dirty="0"/>
          </a:p>
        </p:txBody>
      </p:sp>
      <p:sp>
        <p:nvSpPr>
          <p:cNvPr id="13" name="Shape 11"/>
          <p:cNvSpPr/>
          <p:nvPr/>
        </p:nvSpPr>
        <p:spPr>
          <a:xfrm>
            <a:off x="7040880" y="4434840"/>
            <a:ext cx="4572000" cy="1325880"/>
          </a:xfrm>
          <a:prstGeom prst="roundRect">
            <a:avLst>
              <a:gd name="adj" fmla="val 5517"/>
            </a:avLst>
          </a:prstGeom>
          <a:solidFill>
            <a:srgbClr val="F2F2F2"/>
          </a:solidFill>
          <a:ln/>
          <a:effectLst>
            <a:outerShdw sx="100000" sy="100000" kx="0" ky="0" algn="bl" rotWithShape="0" blurRad="88900" dist="38100" dir="5400000">
              <a:srgbClr val="000000">
                <a:alpha val="12000"/>
              </a:srgbClr>
            </a:outerShdw>
          </a:effectLst>
        </p:spPr>
      </p:sp>
      <p:sp>
        <p:nvSpPr>
          <p:cNvPr id="14" name="Text 12"/>
          <p:cNvSpPr/>
          <p:nvPr/>
        </p:nvSpPr>
        <p:spPr>
          <a:xfrm>
            <a:off x="7269480" y="4599432"/>
            <a:ext cx="4206240" cy="365760"/>
          </a:xfrm>
          <a:prstGeom prst="rect">
            <a:avLst/>
          </a:prstGeom>
          <a:noFill/>
          <a:ln/>
        </p:spPr>
        <p:txBody>
          <a:bodyPr wrap="square" lIns="0" tIns="0" rIns="0" bIns="0" rtlCol="0" anchor="ctr"/>
          <a:lstStyle/>
          <a:p>
            <a:pPr indent="0" marL="0">
              <a:buNone/>
            </a:pPr>
            <a:r>
              <a:rPr lang="en-US" sz="1700" b="1" dirty="0">
                <a:solidFill>
                  <a:srgbClr val="B07A00"/>
                </a:solidFill>
                <a:latin typeface="Calibri" pitchFamily="34" charset="0"/>
                <a:ea typeface="Calibri" pitchFamily="34" charset="-122"/>
                <a:cs typeface="Calibri" pitchFamily="34" charset="-120"/>
              </a:rPr>
              <a:t>Web App</a:t>
            </a:r>
            <a:endParaRPr lang="en-US" sz="1700" dirty="0"/>
          </a:p>
        </p:txBody>
      </p:sp>
      <p:sp>
        <p:nvSpPr>
          <p:cNvPr id="15" name="Text 13"/>
          <p:cNvSpPr/>
          <p:nvPr/>
        </p:nvSpPr>
        <p:spPr>
          <a:xfrm>
            <a:off x="7269480" y="5001768"/>
            <a:ext cx="4206240" cy="548640"/>
          </a:xfrm>
          <a:prstGeom prst="rect">
            <a:avLst/>
          </a:prstGeom>
          <a:noFill/>
          <a:ln/>
        </p:spPr>
        <p:txBody>
          <a:bodyPr wrap="square" lIns="0" tIns="0" rIns="0" bIns="0" rtlCol="0" anchor="ctr"/>
          <a:lstStyle/>
          <a:p>
            <a:pPr indent="0" marL="0">
              <a:buNone/>
            </a:pPr>
            <a:r>
              <a:rPr lang="en-US" sz="1500" dirty="0">
                <a:solidFill>
                  <a:srgbClr val="555555"/>
                </a:solidFill>
                <a:latin typeface="Calibri" pitchFamily="34" charset="0"/>
                <a:ea typeface="Calibri" pitchFamily="34" charset="-122"/>
                <a:cs typeface="Calibri" pitchFamily="34" charset="-120"/>
              </a:rPr>
              <a:t>Streamlit, runs locally</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237744" cy="237744"/>
          </a:xfrm>
          <a:prstGeom prst="roundRect">
            <a:avLst>
              <a:gd name="adj" fmla="val 15385"/>
            </a:avLst>
          </a:prstGeom>
          <a:solidFill>
            <a:srgbClr val="F5B301"/>
          </a:solidFill>
          <a:ln/>
        </p:spPr>
      </p:sp>
      <p:sp>
        <p:nvSpPr>
          <p:cNvPr id="3" name="Text 1"/>
          <p:cNvSpPr/>
          <p:nvPr/>
        </p:nvSpPr>
        <p:spPr>
          <a:xfrm>
            <a:off x="932688" y="310896"/>
            <a:ext cx="10707624" cy="640080"/>
          </a:xfrm>
          <a:prstGeom prst="rect">
            <a:avLst/>
          </a:prstGeom>
          <a:noFill/>
          <a:ln/>
        </p:spPr>
        <p:txBody>
          <a:bodyPr wrap="square" lIns="0" tIns="0" rIns="0" bIns="0" rtlCol="0" anchor="ctr"/>
          <a:lstStyle/>
          <a:p>
            <a:pPr algn="l" indent="0" marL="0">
              <a:buNone/>
            </a:pPr>
            <a:r>
              <a:rPr lang="en-US" sz="3000" b="1" dirty="0">
                <a:solidFill>
                  <a:srgbClr val="1A1A1A"/>
                </a:solidFill>
                <a:latin typeface="Calibri" pitchFamily="34" charset="0"/>
                <a:ea typeface="Calibri" pitchFamily="34" charset="-122"/>
                <a:cs typeface="Calibri" pitchFamily="34" charset="-120"/>
              </a:rPr>
              <a:t>The Dataset</a:t>
            </a:r>
            <a:endParaRPr lang="en-US" sz="3000" dirty="0"/>
          </a:p>
        </p:txBody>
      </p:sp>
      <p:sp>
        <p:nvSpPr>
          <p:cNvPr id="4" name="Text 2"/>
          <p:cNvSpPr/>
          <p:nvPr/>
        </p:nvSpPr>
        <p:spPr>
          <a:xfrm>
            <a:off x="548640" y="1371600"/>
            <a:ext cx="6126480" cy="2377440"/>
          </a:xfrm>
          <a:prstGeom prst="rect">
            <a:avLst/>
          </a:prstGeom>
          <a:noFill/>
          <a:ln/>
        </p:spPr>
        <p:txBody>
          <a:bodyPr wrap="square" lIns="0" tIns="0" rIns="0" bIns="0" rtlCol="0" anchor="t"/>
          <a:lstStyle/>
          <a:p>
            <a:pPr algn="l" marL="177800" indent="-177800">
              <a:spcAft>
                <a:spcPts val="800"/>
              </a:spcAft>
              <a:buSzPct val="100000"/>
              <a:buChar char="•"/>
            </a:pPr>
            <a:r>
              <a:rPr lang="en-US" sz="1700" dirty="0">
                <a:solidFill>
                  <a:srgbClr val="555555"/>
                </a:solidFill>
                <a:latin typeface="Calibri" pitchFamily="34" charset="0"/>
                <a:ea typeface="Calibri" pitchFamily="34" charset="-122"/>
                <a:cs typeface="Calibri" pitchFamily="34" charset="-120"/>
              </a:rPr>
              <a:t>Cleaned NYC Yellow Taxi trip records (2025 sample) from Kaggle</a:t>
            </a:r>
            <a:endParaRPr lang="en-US" sz="1700" dirty="0"/>
          </a:p>
          <a:p>
            <a:pPr algn="l" marL="177800" indent="-177800">
              <a:spcAft>
                <a:spcPts val="800"/>
              </a:spcAft>
              <a:buSzPct val="100000"/>
              <a:buChar char="•"/>
            </a:pPr>
            <a:r>
              <a:rPr lang="en-US" sz="1700" dirty="0">
                <a:solidFill>
                  <a:srgbClr val="555555"/>
                </a:solidFill>
                <a:latin typeface="Calibri" pitchFamily="34" charset="0"/>
                <a:ea typeface="Calibri" pitchFamily="34" charset="-122"/>
                <a:cs typeface="Calibri" pitchFamily="34" charset="-120"/>
              </a:rPr>
              <a:t>Each row is one taxi trip: distance, pickup time, passengers, rate type, and the fare charged</a:t>
            </a:r>
            <a:endParaRPr lang="en-US" sz="1700" dirty="0"/>
          </a:p>
          <a:p>
            <a:pPr algn="l" marL="177800" indent="-177800">
              <a:spcAft>
                <a:spcPts val="800"/>
              </a:spcAft>
              <a:buSzPct val="100000"/>
              <a:buChar char="•"/>
            </a:pPr>
            <a:r>
              <a:rPr lang="en-US" sz="1700" dirty="0">
                <a:solidFill>
                  <a:srgbClr val="555555"/>
                </a:solidFill>
                <a:latin typeface="Calibri" pitchFamily="34" charset="0"/>
                <a:ea typeface="Calibri" pitchFamily="34" charset="-122"/>
                <a:cs typeface="Calibri" pitchFamily="34" charset="-120"/>
              </a:rPr>
              <a:t>Millions of trips — large enough to train a reliable model</a:t>
            </a:r>
            <a:endParaRPr lang="en-US" sz="1700" dirty="0"/>
          </a:p>
        </p:txBody>
      </p:sp>
      <p:sp>
        <p:nvSpPr>
          <p:cNvPr id="5" name="Shape 3"/>
          <p:cNvSpPr/>
          <p:nvPr/>
        </p:nvSpPr>
        <p:spPr>
          <a:xfrm>
            <a:off x="7040880" y="1417320"/>
            <a:ext cx="4572000" cy="3291840"/>
          </a:xfrm>
          <a:prstGeom prst="roundRect">
            <a:avLst>
              <a:gd name="adj" fmla="val 2222"/>
            </a:avLst>
          </a:prstGeom>
          <a:solidFill>
            <a:srgbClr val="2B2B2B"/>
          </a:solidFill>
          <a:ln/>
          <a:effectLst>
            <a:outerShdw sx="100000" sy="100000" kx="0" ky="0" algn="bl" rotWithShape="0" blurRad="88900" dist="38100" dir="5400000">
              <a:srgbClr val="000000">
                <a:alpha val="12000"/>
              </a:srgbClr>
            </a:outerShdw>
          </a:effectLst>
        </p:spPr>
      </p:sp>
      <p:sp>
        <p:nvSpPr>
          <p:cNvPr id="6" name="Text 4"/>
          <p:cNvSpPr/>
          <p:nvPr/>
        </p:nvSpPr>
        <p:spPr>
          <a:xfrm>
            <a:off x="7269480" y="1645920"/>
            <a:ext cx="4114800" cy="365760"/>
          </a:xfrm>
          <a:prstGeom prst="rect">
            <a:avLst/>
          </a:prstGeom>
          <a:noFill/>
          <a:ln/>
        </p:spPr>
        <p:txBody>
          <a:bodyPr wrap="square" lIns="0" tIns="0" rIns="0" bIns="0" rtlCol="0" anchor="ctr"/>
          <a:lstStyle/>
          <a:p>
            <a:pPr indent="0" marL="0">
              <a:buNone/>
            </a:pPr>
            <a:r>
              <a:rPr lang="en-US" sz="1400" dirty="0">
                <a:solidFill>
                  <a:srgbClr val="8A8A8A"/>
                </a:solidFill>
                <a:latin typeface="Calibri" pitchFamily="34" charset="0"/>
                <a:ea typeface="Calibri" pitchFamily="34" charset="-122"/>
                <a:cs typeface="Calibri" pitchFamily="34" charset="-120"/>
              </a:rPr>
              <a:t>Prediction target</a:t>
            </a:r>
            <a:endParaRPr lang="en-US" sz="1400" dirty="0"/>
          </a:p>
        </p:txBody>
      </p:sp>
      <p:sp>
        <p:nvSpPr>
          <p:cNvPr id="7" name="Text 5"/>
          <p:cNvSpPr/>
          <p:nvPr/>
        </p:nvSpPr>
        <p:spPr>
          <a:xfrm>
            <a:off x="7269480" y="2057400"/>
            <a:ext cx="4114800" cy="640080"/>
          </a:xfrm>
          <a:prstGeom prst="rect">
            <a:avLst/>
          </a:prstGeom>
          <a:noFill/>
          <a:ln/>
        </p:spPr>
        <p:txBody>
          <a:bodyPr wrap="square" lIns="0" tIns="0" rIns="0" bIns="0" rtlCol="0" anchor="ctr"/>
          <a:lstStyle/>
          <a:p>
            <a:pPr indent="0" marL="0">
              <a:buNone/>
            </a:pPr>
            <a:r>
              <a:rPr lang="en-US" sz="3000" b="1" dirty="0">
                <a:solidFill>
                  <a:srgbClr val="F5B301"/>
                </a:solidFill>
                <a:latin typeface="Calibri" pitchFamily="34" charset="0"/>
                <a:ea typeface="Calibri" pitchFamily="34" charset="-122"/>
                <a:cs typeface="Calibri" pitchFamily="34" charset="-120"/>
              </a:rPr>
              <a:t>fare_amount</a:t>
            </a:r>
            <a:endParaRPr lang="en-US" sz="3000" dirty="0"/>
          </a:p>
        </p:txBody>
      </p:sp>
      <p:sp>
        <p:nvSpPr>
          <p:cNvPr id="8" name="Text 6"/>
          <p:cNvSpPr/>
          <p:nvPr/>
        </p:nvSpPr>
        <p:spPr>
          <a:xfrm>
            <a:off x="7269480" y="2743200"/>
            <a:ext cx="411480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The base time-and-distance meter fare.</a:t>
            </a:r>
            <a:endParaRPr lang="en-US" sz="1500" dirty="0"/>
          </a:p>
        </p:txBody>
      </p:sp>
      <p:sp>
        <p:nvSpPr>
          <p:cNvPr id="9" name="Text 7"/>
          <p:cNvSpPr/>
          <p:nvPr/>
        </p:nvSpPr>
        <p:spPr>
          <a:xfrm>
            <a:off x="7269480" y="3246120"/>
            <a:ext cx="4114800" cy="1097280"/>
          </a:xfrm>
          <a:prstGeom prst="rect">
            <a:avLst/>
          </a:prstGeom>
          <a:noFill/>
          <a:ln/>
        </p:spPr>
        <p:txBody>
          <a:bodyPr wrap="square" lIns="0" tIns="0" rIns="0" bIns="0" rtlCol="0" anchor="t"/>
          <a:lstStyle/>
          <a:p>
            <a:pPr indent="0" marL="0">
              <a:buNone/>
            </a:pPr>
            <a:r>
              <a:rPr lang="en-US" sz="1400" dirty="0">
                <a:solidFill>
                  <a:srgbClr val="CFCFCF"/>
                </a:solidFill>
                <a:latin typeface="Calibri" pitchFamily="34" charset="0"/>
                <a:ea typeface="Calibri" pitchFamily="34" charset="-122"/>
                <a:cs typeface="Calibri" pitchFamily="34" charset="-120"/>
              </a:rPr>
              <a:t>Tips, tolls and surcharges are NOT part of the target — they are added on top of the meter fare.</a:t>
            </a:r>
            <a:endParaRPr lang="en-US" sz="1400" dirty="0"/>
          </a:p>
        </p:txBody>
      </p:sp>
      <p:sp>
        <p:nvSpPr>
          <p:cNvPr id="10" name="Text 8"/>
          <p:cNvSpPr/>
          <p:nvPr/>
        </p:nvSpPr>
        <p:spPr>
          <a:xfrm>
            <a:off x="548640" y="6126480"/>
            <a:ext cx="7315200" cy="365760"/>
          </a:xfrm>
          <a:prstGeom prst="rect">
            <a:avLst/>
          </a:prstGeom>
          <a:noFill/>
          <a:ln/>
        </p:spPr>
        <p:txBody>
          <a:bodyPr wrap="square" lIns="0" tIns="0" rIns="0" bIns="0" rtlCol="0" anchor="ctr"/>
          <a:lstStyle/>
          <a:p>
            <a:pPr algn="l" indent="0" marL="0">
              <a:buNone/>
            </a:pPr>
            <a:r>
              <a:rPr lang="en-US" sz="1100" i="1" dirty="0">
                <a:solidFill>
                  <a:srgbClr val="8A8A8A"/>
                </a:solidFill>
                <a:latin typeface="Calibri" pitchFamily="34" charset="0"/>
                <a:ea typeface="Calibri" pitchFamily="34" charset="-122"/>
                <a:cs typeface="Calibri" pitchFamily="34" charset="-120"/>
              </a:rPr>
              <a:t>Source: Cleaned NYC Taxi Trip Data 2025 Sample (Kaggle).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237744" cy="237744"/>
          </a:xfrm>
          <a:prstGeom prst="roundRect">
            <a:avLst>
              <a:gd name="adj" fmla="val 15385"/>
            </a:avLst>
          </a:prstGeom>
          <a:solidFill>
            <a:srgbClr val="F5B301"/>
          </a:solidFill>
          <a:ln/>
        </p:spPr>
      </p:sp>
      <p:sp>
        <p:nvSpPr>
          <p:cNvPr id="3" name="Text 1"/>
          <p:cNvSpPr/>
          <p:nvPr/>
        </p:nvSpPr>
        <p:spPr>
          <a:xfrm>
            <a:off x="932688" y="310896"/>
            <a:ext cx="10707624" cy="640080"/>
          </a:xfrm>
          <a:prstGeom prst="rect">
            <a:avLst/>
          </a:prstGeom>
          <a:noFill/>
          <a:ln/>
        </p:spPr>
        <p:txBody>
          <a:bodyPr wrap="square" lIns="0" tIns="0" rIns="0" bIns="0" rtlCol="0" anchor="ctr"/>
          <a:lstStyle/>
          <a:p>
            <a:pPr algn="l" indent="0" marL="0">
              <a:buNone/>
            </a:pPr>
            <a:r>
              <a:rPr lang="en-US" sz="3000" b="1" dirty="0">
                <a:solidFill>
                  <a:srgbClr val="1A1A1A"/>
                </a:solidFill>
                <a:latin typeface="Calibri" pitchFamily="34" charset="0"/>
                <a:ea typeface="Calibri" pitchFamily="34" charset="-122"/>
                <a:cs typeface="Calibri" pitchFamily="34" charset="-120"/>
              </a:rPr>
              <a:t>Avoiding Data Leakage</a:t>
            </a:r>
            <a:endParaRPr lang="en-US" sz="3000" dirty="0"/>
          </a:p>
        </p:txBody>
      </p:sp>
      <p:sp>
        <p:nvSpPr>
          <p:cNvPr id="4" name="Text 2"/>
          <p:cNvSpPr/>
          <p:nvPr/>
        </p:nvSpPr>
        <p:spPr>
          <a:xfrm>
            <a:off x="548640" y="1188720"/>
            <a:ext cx="11091672" cy="822960"/>
          </a:xfrm>
          <a:prstGeom prst="rect">
            <a:avLst/>
          </a:prstGeom>
          <a:noFill/>
          <a:ln/>
        </p:spPr>
        <p:txBody>
          <a:bodyPr wrap="square" lIns="0" tIns="0" rIns="0" bIns="0" rtlCol="0" anchor="t"/>
          <a:lstStyle/>
          <a:p>
            <a:pPr indent="0" marL="0">
              <a:buNone/>
            </a:pPr>
            <a:r>
              <a:rPr lang="en-US" sz="1600" dirty="0">
                <a:solidFill>
                  <a:srgbClr val="555555"/>
                </a:solidFill>
                <a:latin typeface="Calibri" pitchFamily="34" charset="0"/>
                <a:ea typeface="Calibri" pitchFamily="34" charset="-122"/>
                <a:cs typeface="Calibri" pitchFamily="34" charset="-120"/>
              </a:rPr>
              <a:t>Some columns are only known AFTER the trip, or are pieces of the total bill. Using them would let the model 'see the answer'. We keep only what is known at the start of a trip.</a:t>
            </a:r>
            <a:endParaRPr lang="en-US" sz="1600" dirty="0"/>
          </a:p>
        </p:txBody>
      </p:sp>
      <p:sp>
        <p:nvSpPr>
          <p:cNvPr id="5" name="Shape 3"/>
          <p:cNvSpPr/>
          <p:nvPr/>
        </p:nvSpPr>
        <p:spPr>
          <a:xfrm>
            <a:off x="548640" y="2148840"/>
            <a:ext cx="5317236" cy="3291840"/>
          </a:xfrm>
          <a:prstGeom prst="roundRect">
            <a:avLst>
              <a:gd name="adj" fmla="val 2222"/>
            </a:avLst>
          </a:prstGeom>
          <a:solidFill>
            <a:srgbClr val="FFFFFF"/>
          </a:solidFill>
          <a:ln/>
          <a:effectLst>
            <a:outerShdw sx="100000" sy="100000" kx="0" ky="0" algn="bl" rotWithShape="0" blurRad="88900" dist="38100" dir="5400000">
              <a:srgbClr val="000000">
                <a:alpha val="12000"/>
              </a:srgbClr>
            </a:outerShdw>
          </a:effectLst>
        </p:spPr>
      </p:sp>
      <p:sp>
        <p:nvSpPr>
          <p:cNvPr id="6" name="Shape 4"/>
          <p:cNvSpPr/>
          <p:nvPr/>
        </p:nvSpPr>
        <p:spPr>
          <a:xfrm>
            <a:off x="548640" y="2148840"/>
            <a:ext cx="5317236" cy="548640"/>
          </a:xfrm>
          <a:prstGeom prst="roundRect">
            <a:avLst>
              <a:gd name="adj" fmla="val 13333"/>
            </a:avLst>
          </a:prstGeom>
          <a:solidFill>
            <a:srgbClr val="F5B301"/>
          </a:solidFill>
          <a:ln/>
        </p:spPr>
      </p:sp>
      <p:sp>
        <p:nvSpPr>
          <p:cNvPr id="7" name="Text 5"/>
          <p:cNvSpPr/>
          <p:nvPr/>
        </p:nvSpPr>
        <p:spPr>
          <a:xfrm>
            <a:off x="777240" y="2148840"/>
            <a:ext cx="4860036" cy="548640"/>
          </a:xfrm>
          <a:prstGeom prst="rect">
            <a:avLst/>
          </a:prstGeom>
          <a:noFill/>
          <a:ln/>
        </p:spPr>
        <p:txBody>
          <a:bodyPr wrap="square" lIns="0" tIns="0" rIns="0" bIns="0"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Used as input  ✓</a:t>
            </a:r>
            <a:endParaRPr lang="en-US" sz="1700" dirty="0"/>
          </a:p>
        </p:txBody>
      </p:sp>
      <p:sp>
        <p:nvSpPr>
          <p:cNvPr id="8" name="Text 6"/>
          <p:cNvSpPr/>
          <p:nvPr/>
        </p:nvSpPr>
        <p:spPr>
          <a:xfrm>
            <a:off x="822960" y="2880360"/>
            <a:ext cx="4768596" cy="2377440"/>
          </a:xfrm>
          <a:prstGeom prst="rect">
            <a:avLst/>
          </a:prstGeom>
          <a:noFill/>
          <a:ln/>
        </p:spPr>
        <p:txBody>
          <a:bodyPr wrap="square" lIns="0" tIns="0" rIns="0" bIns="0" rtlCol="0" anchor="t"/>
          <a:lstStyle/>
          <a:p>
            <a:pPr algn="l" marL="177800" indent="-177800">
              <a:spcAft>
                <a:spcPts val="800"/>
              </a:spcAft>
              <a:buSzPct val="100000"/>
              <a:buChar char="•"/>
            </a:pPr>
            <a:r>
              <a:rPr lang="en-US" sz="1600" dirty="0">
                <a:solidFill>
                  <a:srgbClr val="555555"/>
                </a:solidFill>
                <a:latin typeface="Calibri" pitchFamily="34" charset="0"/>
                <a:ea typeface="Calibri" pitchFamily="34" charset="-122"/>
                <a:cs typeface="Calibri" pitchFamily="34" charset="-120"/>
              </a:rPr>
              <a:t>trip_distance (miles)</a:t>
            </a:r>
            <a:endParaRPr lang="en-US" sz="1600" dirty="0"/>
          </a:p>
          <a:p>
            <a:pPr algn="l" marL="177800" indent="-177800">
              <a:spcAft>
                <a:spcPts val="800"/>
              </a:spcAft>
              <a:buSzPct val="100000"/>
              <a:buChar char="•"/>
            </a:pPr>
            <a:r>
              <a:rPr lang="en-US" sz="1600" dirty="0">
                <a:solidFill>
                  <a:srgbClr val="555555"/>
                </a:solidFill>
                <a:latin typeface="Calibri" pitchFamily="34" charset="0"/>
                <a:ea typeface="Calibri" pitchFamily="34" charset="-122"/>
                <a:cs typeface="Calibri" pitchFamily="34" charset="-120"/>
              </a:rPr>
              <a:t>passenger_count</a:t>
            </a:r>
            <a:endParaRPr lang="en-US" sz="1600" dirty="0"/>
          </a:p>
          <a:p>
            <a:pPr algn="l" marL="177800" indent="-177800">
              <a:spcAft>
                <a:spcPts val="800"/>
              </a:spcAft>
              <a:buSzPct val="100000"/>
              <a:buChar char="•"/>
            </a:pPr>
            <a:r>
              <a:rPr lang="en-US" sz="1600" dirty="0">
                <a:solidFill>
                  <a:srgbClr val="555555"/>
                </a:solidFill>
                <a:latin typeface="Calibri" pitchFamily="34" charset="0"/>
                <a:ea typeface="Calibri" pitchFamily="34" charset="-122"/>
                <a:cs typeface="Calibri" pitchFamily="34" charset="-120"/>
              </a:rPr>
              <a:t>pickup time → hour, day of week, month</a:t>
            </a:r>
            <a:endParaRPr lang="en-US" sz="1600" dirty="0"/>
          </a:p>
          <a:p>
            <a:pPr algn="l" marL="177800" indent="-177800">
              <a:spcAft>
                <a:spcPts val="800"/>
              </a:spcAft>
              <a:buSzPct val="100000"/>
              <a:buChar char="•"/>
            </a:pPr>
            <a:r>
              <a:rPr lang="en-US" sz="1600" dirty="0">
                <a:solidFill>
                  <a:srgbClr val="555555"/>
                </a:solidFill>
                <a:latin typeface="Calibri" pitchFamily="34" charset="0"/>
                <a:ea typeface="Calibri" pitchFamily="34" charset="-122"/>
                <a:cs typeface="Calibri" pitchFamily="34" charset="-120"/>
              </a:rPr>
              <a:t>RatecodeID (rate type)</a:t>
            </a:r>
            <a:endParaRPr lang="en-US" sz="1600" dirty="0"/>
          </a:p>
        </p:txBody>
      </p:sp>
      <p:sp>
        <p:nvSpPr>
          <p:cNvPr id="9" name="Shape 7"/>
          <p:cNvSpPr/>
          <p:nvPr/>
        </p:nvSpPr>
        <p:spPr>
          <a:xfrm>
            <a:off x="6323076" y="2148840"/>
            <a:ext cx="5317236" cy="3291840"/>
          </a:xfrm>
          <a:prstGeom prst="roundRect">
            <a:avLst>
              <a:gd name="adj" fmla="val 2222"/>
            </a:avLst>
          </a:prstGeom>
          <a:solidFill>
            <a:srgbClr val="FFFFFF"/>
          </a:solidFill>
          <a:ln/>
          <a:effectLst>
            <a:outerShdw sx="100000" sy="100000" kx="0" ky="0" algn="bl" rotWithShape="0" blurRad="88900" dist="38100" dir="5400000">
              <a:srgbClr val="000000">
                <a:alpha val="12000"/>
              </a:srgbClr>
            </a:outerShdw>
          </a:effectLst>
        </p:spPr>
      </p:sp>
      <p:sp>
        <p:nvSpPr>
          <p:cNvPr id="10" name="Shape 8"/>
          <p:cNvSpPr/>
          <p:nvPr/>
        </p:nvSpPr>
        <p:spPr>
          <a:xfrm>
            <a:off x="6323076" y="2148840"/>
            <a:ext cx="5317236" cy="548640"/>
          </a:xfrm>
          <a:prstGeom prst="roundRect">
            <a:avLst>
              <a:gd name="adj" fmla="val 13333"/>
            </a:avLst>
          </a:prstGeom>
          <a:solidFill>
            <a:srgbClr val="2B2B2B"/>
          </a:solidFill>
          <a:ln/>
        </p:spPr>
      </p:sp>
      <p:sp>
        <p:nvSpPr>
          <p:cNvPr id="11" name="Text 9"/>
          <p:cNvSpPr/>
          <p:nvPr/>
        </p:nvSpPr>
        <p:spPr>
          <a:xfrm>
            <a:off x="6551676" y="2148840"/>
            <a:ext cx="4860036" cy="5486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Excluded — would leak  ✕</a:t>
            </a:r>
            <a:endParaRPr lang="en-US" sz="1700" dirty="0"/>
          </a:p>
        </p:txBody>
      </p:sp>
      <p:sp>
        <p:nvSpPr>
          <p:cNvPr id="12" name="Text 10"/>
          <p:cNvSpPr/>
          <p:nvPr/>
        </p:nvSpPr>
        <p:spPr>
          <a:xfrm>
            <a:off x="6597396" y="2880360"/>
            <a:ext cx="4768596" cy="2377440"/>
          </a:xfrm>
          <a:prstGeom prst="rect">
            <a:avLst/>
          </a:prstGeom>
          <a:noFill/>
          <a:ln/>
        </p:spPr>
        <p:txBody>
          <a:bodyPr wrap="square" lIns="0" tIns="0" rIns="0" bIns="0" rtlCol="0" anchor="t"/>
          <a:lstStyle/>
          <a:p>
            <a:pPr algn="l" marL="177800" indent="-177800">
              <a:spcAft>
                <a:spcPts val="800"/>
              </a:spcAft>
              <a:buSzPct val="100000"/>
              <a:buChar char="•"/>
            </a:pPr>
            <a:r>
              <a:rPr lang="en-US" sz="1600" dirty="0">
                <a:solidFill>
                  <a:srgbClr val="555555"/>
                </a:solidFill>
                <a:latin typeface="Calibri" pitchFamily="34" charset="0"/>
                <a:ea typeface="Calibri" pitchFamily="34" charset="-122"/>
                <a:cs typeface="Calibri" pitchFamily="34" charset="-120"/>
              </a:rPr>
              <a:t>total_amount (includes everything)</a:t>
            </a:r>
            <a:endParaRPr lang="en-US" sz="1600" dirty="0"/>
          </a:p>
          <a:p>
            <a:pPr algn="l" marL="177800" indent="-177800">
              <a:spcAft>
                <a:spcPts val="800"/>
              </a:spcAft>
              <a:buSzPct val="100000"/>
              <a:buChar char="•"/>
            </a:pPr>
            <a:r>
              <a:rPr lang="en-US" sz="1600" dirty="0">
                <a:solidFill>
                  <a:srgbClr val="555555"/>
                </a:solidFill>
                <a:latin typeface="Calibri" pitchFamily="34" charset="0"/>
                <a:ea typeface="Calibri" pitchFamily="34" charset="-122"/>
                <a:cs typeface="Calibri" pitchFamily="34" charset="-120"/>
              </a:rPr>
              <a:t>tip_amount, tolls_amount</a:t>
            </a:r>
            <a:endParaRPr lang="en-US" sz="1600" dirty="0"/>
          </a:p>
          <a:p>
            <a:pPr algn="l" marL="177800" indent="-177800">
              <a:spcAft>
                <a:spcPts val="800"/>
              </a:spcAft>
              <a:buSzPct val="100000"/>
              <a:buChar char="•"/>
            </a:pPr>
            <a:r>
              <a:rPr lang="en-US" sz="1600" dirty="0">
                <a:solidFill>
                  <a:srgbClr val="555555"/>
                </a:solidFill>
                <a:latin typeface="Calibri" pitchFamily="34" charset="0"/>
                <a:ea typeface="Calibri" pitchFamily="34" charset="-122"/>
                <a:cs typeface="Calibri" pitchFamily="34" charset="-120"/>
              </a:rPr>
              <a:t>extra, mta_tax, congestion, airport_fee</a:t>
            </a:r>
            <a:endParaRPr lang="en-US" sz="1600" dirty="0"/>
          </a:p>
          <a:p>
            <a:pPr algn="l" marL="177800" indent="-177800">
              <a:spcAft>
                <a:spcPts val="800"/>
              </a:spcAft>
              <a:buSzPct val="100000"/>
              <a:buChar char="•"/>
            </a:pPr>
            <a:r>
              <a:rPr lang="en-US" sz="1600" dirty="0">
                <a:solidFill>
                  <a:srgbClr val="555555"/>
                </a:solidFill>
                <a:latin typeface="Calibri" pitchFamily="34" charset="0"/>
                <a:ea typeface="Calibri" pitchFamily="34" charset="-122"/>
                <a:cs typeface="Calibri" pitchFamily="34" charset="-120"/>
              </a:rPr>
              <a:t>dropoff time (unknown before the trip)</a:t>
            </a:r>
            <a:endParaRPr lang="en-US" sz="1600" dirty="0"/>
          </a:p>
        </p:txBody>
      </p:sp>
      <p:sp>
        <p:nvSpPr>
          <p:cNvPr id="13" name="Text 11"/>
          <p:cNvSpPr/>
          <p:nvPr/>
        </p:nvSpPr>
        <p:spPr>
          <a:xfrm>
            <a:off x="548640" y="6126480"/>
            <a:ext cx="11091672" cy="365760"/>
          </a:xfrm>
          <a:prstGeom prst="rect">
            <a:avLst/>
          </a:prstGeom>
          <a:noFill/>
          <a:ln/>
        </p:spPr>
        <p:txBody>
          <a:bodyPr wrap="square" lIns="0" tIns="0" rIns="0" bIns="0" rtlCol="0" anchor="ctr"/>
          <a:lstStyle/>
          <a:p>
            <a:pPr algn="l" indent="0" marL="0">
              <a:buNone/>
            </a:pPr>
            <a:r>
              <a:rPr lang="en-US" sz="1100" i="1" dirty="0">
                <a:solidFill>
                  <a:srgbClr val="8A8A8A"/>
                </a:solidFill>
                <a:latin typeface="Calibri" pitchFamily="34" charset="0"/>
                <a:ea typeface="Calibri" pitchFamily="34" charset="-122"/>
                <a:cs typeface="Calibri" pitchFamily="34" charset="-120"/>
              </a:rPr>
              <a:t>total_amount = fare + tips + tolls + surcharges. Predicting it would be circular — the answer is baked in.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237744" cy="237744"/>
          </a:xfrm>
          <a:prstGeom prst="roundRect">
            <a:avLst>
              <a:gd name="adj" fmla="val 15385"/>
            </a:avLst>
          </a:prstGeom>
          <a:solidFill>
            <a:srgbClr val="F5B301"/>
          </a:solidFill>
          <a:ln/>
        </p:spPr>
      </p:sp>
      <p:sp>
        <p:nvSpPr>
          <p:cNvPr id="3" name="Text 1"/>
          <p:cNvSpPr/>
          <p:nvPr/>
        </p:nvSpPr>
        <p:spPr>
          <a:xfrm>
            <a:off x="932688" y="310896"/>
            <a:ext cx="10707624" cy="640080"/>
          </a:xfrm>
          <a:prstGeom prst="rect">
            <a:avLst/>
          </a:prstGeom>
          <a:noFill/>
          <a:ln/>
        </p:spPr>
        <p:txBody>
          <a:bodyPr wrap="square" lIns="0" tIns="0" rIns="0" bIns="0" rtlCol="0" anchor="ctr"/>
          <a:lstStyle/>
          <a:p>
            <a:pPr algn="l" indent="0" marL="0">
              <a:buNone/>
            </a:pPr>
            <a:r>
              <a:rPr lang="en-US" sz="3000" b="1" dirty="0">
                <a:solidFill>
                  <a:srgbClr val="1A1A1A"/>
                </a:solidFill>
                <a:latin typeface="Calibri" pitchFamily="34" charset="0"/>
                <a:ea typeface="Calibri" pitchFamily="34" charset="-122"/>
                <a:cs typeface="Calibri" pitchFamily="34" charset="-120"/>
              </a:rPr>
              <a:t>Features Used</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2926080"/>
                <a:gridCol w="8165592"/>
              </a:tblGrid>
              <a:tr h="5029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Feature</a:t>
                      </a:r>
                      <a:endParaRPr lang="en-US" sz="15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A1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it is</a:t>
                      </a:r>
                      <a:endParaRPr lang="en-US" sz="15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A1A"/>
                    </a:solidFill>
                  </a:tcPr>
                </a:tc>
              </a:tr>
              <a:tr h="502920">
                <a:tc>
                  <a:txBody>
                    <a:bodyPr/>
                    <a:lstStyle/>
                    <a:p>
                      <a:pPr indent="0" marL="0">
                        <a:buNone/>
                      </a:pPr>
                      <a:r>
                        <a:rPr lang="en-US" sz="1400" b="1" dirty="0">
                          <a:solidFill>
                            <a:srgbClr val="1A1A1A"/>
                          </a:solidFill>
                          <a:latin typeface="Courier New" pitchFamily="34" charset="0"/>
                          <a:ea typeface="Courier New" pitchFamily="34" charset="-122"/>
                          <a:cs typeface="Courier New" pitchFamily="34" charset="-120"/>
                        </a:rPr>
                        <a:t>trip_distance</a:t>
                      </a:r>
                      <a:endParaRPr lang="en-US" sz="1400" dirty="0">
                        <a:latin typeface="Courier New" charset="0"/>
                        <a:ea typeface="Courier New" charset="0"/>
                        <a:cs typeface="Courier New"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555555"/>
                          </a:solidFill>
                          <a:latin typeface="Calibri" pitchFamily="34" charset="0"/>
                          <a:ea typeface="Calibri" pitchFamily="34" charset="-122"/>
                          <a:cs typeface="Calibri" pitchFamily="34" charset="-120"/>
                        </a:rPr>
                        <a:t>Trip distance in miles (strongest predictor)</a:t>
                      </a:r>
                      <a:endParaRPr lang="en-US" sz="14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1A1A1A"/>
                          </a:solidFill>
                          <a:latin typeface="Courier New" pitchFamily="34" charset="0"/>
                          <a:ea typeface="Courier New" pitchFamily="34" charset="-122"/>
                          <a:cs typeface="Courier New" pitchFamily="34" charset="-120"/>
                        </a:rPr>
                        <a:t>passenger_count</a:t>
                      </a:r>
                      <a:endParaRPr lang="en-US" sz="1400" dirty="0">
                        <a:latin typeface="Courier New" charset="0"/>
                        <a:ea typeface="Courier New" charset="0"/>
                        <a:cs typeface="Courier New"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indent="0" marL="0">
                        <a:buNone/>
                      </a:pPr>
                      <a:r>
                        <a:rPr lang="en-US" sz="1400" dirty="0">
                          <a:solidFill>
                            <a:srgbClr val="555555"/>
                          </a:solidFill>
                          <a:latin typeface="Calibri" pitchFamily="34" charset="0"/>
                          <a:ea typeface="Calibri" pitchFamily="34" charset="-122"/>
                          <a:cs typeface="Calibri" pitchFamily="34" charset="-120"/>
                        </a:rPr>
                        <a:t>Number of passengers</a:t>
                      </a:r>
                      <a:endParaRPr lang="en-US" sz="14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502920">
                <a:tc>
                  <a:txBody>
                    <a:bodyPr/>
                    <a:lstStyle/>
                    <a:p>
                      <a:pPr indent="0" marL="0">
                        <a:buNone/>
                      </a:pPr>
                      <a:r>
                        <a:rPr lang="en-US" sz="1400" b="1" dirty="0">
                          <a:solidFill>
                            <a:srgbClr val="1A1A1A"/>
                          </a:solidFill>
                          <a:latin typeface="Courier New" pitchFamily="34" charset="0"/>
                          <a:ea typeface="Courier New" pitchFamily="34" charset="-122"/>
                          <a:cs typeface="Courier New" pitchFamily="34" charset="-120"/>
                        </a:rPr>
                        <a:t>hour</a:t>
                      </a:r>
                      <a:endParaRPr lang="en-US" sz="1400" dirty="0">
                        <a:latin typeface="Courier New" charset="0"/>
                        <a:ea typeface="Courier New" charset="0"/>
                        <a:cs typeface="Courier New"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555555"/>
                          </a:solidFill>
                          <a:latin typeface="Calibri" pitchFamily="34" charset="0"/>
                          <a:ea typeface="Calibri" pitchFamily="34" charset="-122"/>
                          <a:cs typeface="Calibri" pitchFamily="34" charset="-120"/>
                        </a:rPr>
                        <a:t>Hour of pickup (0–23), from pickup time</a:t>
                      </a:r>
                      <a:endParaRPr lang="en-US" sz="14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1A1A1A"/>
                          </a:solidFill>
                          <a:latin typeface="Courier New" pitchFamily="34" charset="0"/>
                          <a:ea typeface="Courier New" pitchFamily="34" charset="-122"/>
                          <a:cs typeface="Courier New" pitchFamily="34" charset="-120"/>
                        </a:rPr>
                        <a:t>day_of_week</a:t>
                      </a:r>
                      <a:endParaRPr lang="en-US" sz="1400" dirty="0">
                        <a:latin typeface="Courier New" charset="0"/>
                        <a:ea typeface="Courier New" charset="0"/>
                        <a:cs typeface="Courier New"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indent="0" marL="0">
                        <a:buNone/>
                      </a:pPr>
                      <a:r>
                        <a:rPr lang="en-US" sz="1400" dirty="0">
                          <a:solidFill>
                            <a:srgbClr val="555555"/>
                          </a:solidFill>
                          <a:latin typeface="Calibri" pitchFamily="34" charset="0"/>
                          <a:ea typeface="Calibri" pitchFamily="34" charset="-122"/>
                          <a:cs typeface="Calibri" pitchFamily="34" charset="-120"/>
                        </a:rPr>
                        <a:t>Day of week (0 = Monday … 6 = Sunday)</a:t>
                      </a:r>
                      <a:endParaRPr lang="en-US" sz="14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502920">
                <a:tc>
                  <a:txBody>
                    <a:bodyPr/>
                    <a:lstStyle/>
                    <a:p>
                      <a:pPr indent="0" marL="0">
                        <a:buNone/>
                      </a:pPr>
                      <a:r>
                        <a:rPr lang="en-US" sz="1400" b="1" dirty="0">
                          <a:solidFill>
                            <a:srgbClr val="1A1A1A"/>
                          </a:solidFill>
                          <a:latin typeface="Courier New" pitchFamily="34" charset="0"/>
                          <a:ea typeface="Courier New" pitchFamily="34" charset="-122"/>
                          <a:cs typeface="Courier New" pitchFamily="34" charset="-120"/>
                        </a:rPr>
                        <a:t>month</a:t>
                      </a:r>
                      <a:endParaRPr lang="en-US" sz="1400" dirty="0">
                        <a:latin typeface="Courier New" charset="0"/>
                        <a:ea typeface="Courier New" charset="0"/>
                        <a:cs typeface="Courier New"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555555"/>
                          </a:solidFill>
                          <a:latin typeface="Calibri" pitchFamily="34" charset="0"/>
                          <a:ea typeface="Calibri" pitchFamily="34" charset="-122"/>
                          <a:cs typeface="Calibri" pitchFamily="34" charset="-120"/>
                        </a:rPr>
                        <a:t>Month of the trip</a:t>
                      </a:r>
                      <a:endParaRPr lang="en-US" sz="14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1A1A1A"/>
                          </a:solidFill>
                          <a:latin typeface="Courier New" pitchFamily="34" charset="0"/>
                          <a:ea typeface="Courier New" pitchFamily="34" charset="-122"/>
                          <a:cs typeface="Courier New" pitchFamily="34" charset="-120"/>
                        </a:rPr>
                        <a:t>rate_1 … rate_6</a:t>
                      </a:r>
                      <a:endParaRPr lang="en-US" sz="1400" dirty="0">
                        <a:latin typeface="Courier New" charset="0"/>
                        <a:ea typeface="Courier New" charset="0"/>
                        <a:cs typeface="Courier New"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indent="0" marL="0">
                        <a:buNone/>
                      </a:pPr>
                      <a:r>
                        <a:rPr lang="en-US" sz="1400" dirty="0">
                          <a:solidFill>
                            <a:srgbClr val="555555"/>
                          </a:solidFill>
                          <a:latin typeface="Calibri" pitchFamily="34" charset="0"/>
                          <a:ea typeface="Calibri" pitchFamily="34" charset="-122"/>
                          <a:cs typeface="Calibri" pitchFamily="34" charset="-120"/>
                        </a:rPr>
                        <a:t>Rate type, one-hot encoded (1 = Standard, 2 = JFK …)</a:t>
                      </a:r>
                      <a:endParaRPr lang="en-US" sz="14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
        <p:nvSpPr>
          <p:cNvPr id="5" name="Text 2"/>
          <p:cNvSpPr/>
          <p:nvPr/>
        </p:nvSpPr>
        <p:spPr>
          <a:xfrm>
            <a:off x="548640" y="5806440"/>
            <a:ext cx="11091672" cy="640080"/>
          </a:xfrm>
          <a:prstGeom prst="rect">
            <a:avLst/>
          </a:prstGeom>
          <a:noFill/>
          <a:ln/>
        </p:spPr>
        <p:txBody>
          <a:bodyPr wrap="square" lIns="0" tIns="0" rIns="0" bIns="0" rtlCol="0" anchor="t"/>
          <a:lstStyle/>
          <a:p>
            <a:pPr indent="0" marL="0">
              <a:buNone/>
            </a:pPr>
            <a:r>
              <a:rPr lang="en-US" sz="1400" b="1" dirty="0">
                <a:solidFill>
                  <a:srgbClr val="1A1A1A"/>
                </a:solidFill>
                <a:latin typeface="Calibri" pitchFamily="34" charset="0"/>
                <a:ea typeface="Calibri" pitchFamily="34" charset="-122"/>
                <a:cs typeface="Calibri" pitchFamily="34" charset="-120"/>
              </a:rPr>
              <a:t>Why one-hot the rate code?  </a:t>
            </a:r>
            <a:pPr indent="0" marL="0">
              <a:buNone/>
            </a:pPr>
            <a:r>
              <a:rPr lang="en-US" sz="1400" dirty="0">
                <a:solidFill>
                  <a:srgbClr val="555555"/>
                </a:solidFill>
                <a:latin typeface="Calibri" pitchFamily="34" charset="0"/>
                <a:ea typeface="Calibri" pitchFamily="34" charset="-122"/>
                <a:cs typeface="Calibri" pitchFamily="34" charset="-120"/>
              </a:rPr>
              <a:t>The codes are labels, not a scale — rate 2 is not 'twice' rate 1 — so each becomes its own yes/no column.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237744" cy="237744"/>
          </a:xfrm>
          <a:prstGeom prst="roundRect">
            <a:avLst>
              <a:gd name="adj" fmla="val 15385"/>
            </a:avLst>
          </a:prstGeom>
          <a:solidFill>
            <a:srgbClr val="F5B301"/>
          </a:solidFill>
          <a:ln/>
        </p:spPr>
      </p:sp>
      <p:sp>
        <p:nvSpPr>
          <p:cNvPr id="3" name="Text 1"/>
          <p:cNvSpPr/>
          <p:nvPr/>
        </p:nvSpPr>
        <p:spPr>
          <a:xfrm>
            <a:off x="932688" y="310896"/>
            <a:ext cx="10707624" cy="640080"/>
          </a:xfrm>
          <a:prstGeom prst="rect">
            <a:avLst/>
          </a:prstGeom>
          <a:noFill/>
          <a:ln/>
        </p:spPr>
        <p:txBody>
          <a:bodyPr wrap="square" lIns="0" tIns="0" rIns="0" bIns="0" rtlCol="0" anchor="ctr"/>
          <a:lstStyle/>
          <a:p>
            <a:pPr algn="l" indent="0" marL="0">
              <a:buNone/>
            </a:pPr>
            <a:r>
              <a:rPr lang="en-US" sz="3000" b="1" dirty="0">
                <a:solidFill>
                  <a:srgbClr val="1A1A1A"/>
                </a:solidFill>
                <a:latin typeface="Calibri" pitchFamily="34" charset="0"/>
                <a:ea typeface="Calibri" pitchFamily="34" charset="-122"/>
                <a:cs typeface="Calibri" pitchFamily="34" charset="-120"/>
              </a:rPr>
              <a:t>Where Do Fares Fall?</a:t>
            </a:r>
            <a:endParaRPr lang="en-US" sz="3000" dirty="0"/>
          </a:p>
        </p:txBody>
      </p:sp>
      <p:sp>
        <p:nvSpPr>
          <p:cNvPr id="4" name="Text 2"/>
          <p:cNvSpPr/>
          <p:nvPr/>
        </p:nvSpPr>
        <p:spPr>
          <a:xfrm>
            <a:off x="548640" y="1371600"/>
            <a:ext cx="4754880" cy="457200"/>
          </a:xfrm>
          <a:prstGeom prst="rect">
            <a:avLst/>
          </a:prstGeom>
          <a:noFill/>
          <a:ln/>
        </p:spPr>
        <p:txBody>
          <a:bodyPr wrap="square" lIns="0" tIns="0" rIns="0" bIns="0" rtlCol="0" anchor="ctr"/>
          <a:lstStyle/>
          <a:p>
            <a:pPr indent="0" marL="0">
              <a:buNone/>
            </a:pPr>
            <a:r>
              <a:rPr lang="en-US" sz="1800" b="1" dirty="0">
                <a:solidFill>
                  <a:srgbClr val="B07A00"/>
                </a:solidFill>
                <a:latin typeface="Calibri" pitchFamily="34" charset="0"/>
                <a:ea typeface="Calibri" pitchFamily="34" charset="-122"/>
                <a:cs typeface="Calibri" pitchFamily="34" charset="-120"/>
              </a:rPr>
              <a:t>Most trips are cheap</a:t>
            </a:r>
            <a:endParaRPr lang="en-US" sz="1800" dirty="0"/>
          </a:p>
        </p:txBody>
      </p:sp>
      <p:sp>
        <p:nvSpPr>
          <p:cNvPr id="5" name="Text 3"/>
          <p:cNvSpPr/>
          <p:nvPr/>
        </p:nvSpPr>
        <p:spPr>
          <a:xfrm>
            <a:off x="548640" y="1874520"/>
            <a:ext cx="4846320" cy="3657600"/>
          </a:xfrm>
          <a:prstGeom prst="rect">
            <a:avLst/>
          </a:prstGeom>
          <a:noFill/>
          <a:ln/>
        </p:spPr>
        <p:txBody>
          <a:bodyPr wrap="square" lIns="0" tIns="0" rIns="0" bIns="0" rtlCol="0" anchor="t"/>
          <a:lstStyle/>
          <a:p>
            <a:pPr algn="l" marL="177800" indent="-177800">
              <a:spcAft>
                <a:spcPts val="800"/>
              </a:spcAft>
              <a:buSzPct val="100000"/>
              <a:buChar char="•"/>
            </a:pPr>
            <a:r>
              <a:rPr lang="en-US" sz="1600" dirty="0">
                <a:solidFill>
                  <a:srgbClr val="555555"/>
                </a:solidFill>
                <a:latin typeface="Calibri" pitchFamily="34" charset="0"/>
                <a:ea typeface="Calibri" pitchFamily="34" charset="-122"/>
                <a:cs typeface="Calibri" pitchFamily="34" charset="-120"/>
              </a:rPr>
              <a:t>Most fares sit between about $5 and $25</a:t>
            </a:r>
            <a:endParaRPr lang="en-US" sz="1600" dirty="0"/>
          </a:p>
          <a:p>
            <a:pPr algn="l" marL="177800" indent="-177800">
              <a:spcAft>
                <a:spcPts val="800"/>
              </a:spcAft>
              <a:buSzPct val="100000"/>
              <a:buChar char="•"/>
            </a:pPr>
            <a:r>
              <a:rPr lang="en-US" sz="1600" dirty="0">
                <a:solidFill>
                  <a:srgbClr val="555555"/>
                </a:solidFill>
                <a:latin typeface="Calibri" pitchFamily="34" charset="0"/>
                <a:ea typeface="Calibri" pitchFamily="34" charset="-122"/>
                <a:cs typeface="Calibri" pitchFamily="34" charset="-120"/>
              </a:rPr>
              <a:t>The shape is right-skewed: a long tail of expensive trips</a:t>
            </a:r>
            <a:endParaRPr lang="en-US" sz="1600" dirty="0"/>
          </a:p>
          <a:p>
            <a:pPr algn="l" marL="177800" indent="-177800">
              <a:spcAft>
                <a:spcPts val="800"/>
              </a:spcAft>
              <a:buSzPct val="100000"/>
              <a:buChar char="•"/>
            </a:pPr>
            <a:r>
              <a:rPr lang="en-US" sz="1600" dirty="0">
                <a:solidFill>
                  <a:srgbClr val="555555"/>
                </a:solidFill>
                <a:latin typeface="Calibri" pitchFamily="34" charset="0"/>
                <a:ea typeface="Calibri" pitchFamily="34" charset="-122"/>
                <a:cs typeface="Calibri" pitchFamily="34" charset="-120"/>
              </a:rPr>
              <a:t>A small spike near $70 — these are the JFK Airport flat-rate trips</a:t>
            </a:r>
            <a:endParaRPr lang="en-US" sz="1600" dirty="0"/>
          </a:p>
        </p:txBody>
      </p:sp>
      <p:sp>
        <p:nvSpPr>
          <p:cNvPr id="6" name="Shape 4"/>
          <p:cNvSpPr/>
          <p:nvPr/>
        </p:nvSpPr>
        <p:spPr>
          <a:xfrm>
            <a:off x="5669280" y="1325880"/>
            <a:ext cx="5971032" cy="4480560"/>
          </a:xfrm>
          <a:prstGeom prst="roundRect">
            <a:avLst>
              <a:gd name="adj" fmla="val 1633"/>
            </a:avLst>
          </a:prstGeom>
          <a:solidFill>
            <a:srgbClr val="FFFFFF"/>
          </a:solidFill>
          <a:ln/>
          <a:effectLst>
            <a:outerShdw sx="100000" sy="100000" kx="0" ky="0" algn="bl" rotWithShape="0" blurRad="88900" dist="38100" dir="5400000">
              <a:srgbClr val="000000">
                <a:alpha val="12000"/>
              </a:srgbClr>
            </a:outerShdw>
          </a:effectLst>
        </p:spPr>
      </p:sp>
      <p:pic>
        <p:nvPicPr>
          <p:cNvPr id="7" name="Image 0" descr="fig1_fare_distribution.png">    </p:cNvPr>
          <p:cNvPicPr>
            <a:picLocks noChangeAspect="1"/>
          </p:cNvPicPr>
          <p:nvPr/>
        </p:nvPicPr>
        <p:blipFill>
          <a:blip r:embed="rId1"/>
          <a:stretch>
            <a:fillRect/>
          </a:stretch>
        </p:blipFill>
        <p:spPr>
          <a:xfrm>
            <a:off x="5806440" y="1938528"/>
            <a:ext cx="5696712" cy="3255264"/>
          </a:xfrm>
          <a:prstGeom prst="rect">
            <a:avLst/>
          </a:prstGeom>
        </p:spPr>
      </p:pic>
      <p:sp>
        <p:nvSpPr>
          <p:cNvPr id="8" name="Text 5"/>
          <p:cNvSpPr/>
          <p:nvPr/>
        </p:nvSpPr>
        <p:spPr>
          <a:xfrm>
            <a:off x="5806440" y="5897880"/>
            <a:ext cx="5833872" cy="365760"/>
          </a:xfrm>
          <a:prstGeom prst="rect">
            <a:avLst/>
          </a:prstGeom>
          <a:noFill/>
          <a:ln/>
        </p:spPr>
        <p:txBody>
          <a:bodyPr wrap="square" lIns="0" tIns="0" rIns="0" bIns="0" rtlCol="0" anchor="ctr"/>
          <a:lstStyle/>
          <a:p>
            <a:pPr algn="l" indent="0" marL="0">
              <a:buNone/>
            </a:pPr>
            <a:r>
              <a:rPr lang="en-US" sz="1100" i="1" dirty="0">
                <a:solidFill>
                  <a:srgbClr val="8A8A8A"/>
                </a:solidFill>
                <a:latin typeface="Calibri" pitchFamily="34" charset="0"/>
                <a:ea typeface="Calibri" pitchFamily="34" charset="-122"/>
                <a:cs typeface="Calibri" pitchFamily="34" charset="-120"/>
              </a:rPr>
              <a:t>Figure 1 — Distribution of taxi fares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237744" cy="237744"/>
          </a:xfrm>
          <a:prstGeom prst="roundRect">
            <a:avLst>
              <a:gd name="adj" fmla="val 15385"/>
            </a:avLst>
          </a:prstGeom>
          <a:solidFill>
            <a:srgbClr val="F5B301"/>
          </a:solidFill>
          <a:ln/>
        </p:spPr>
      </p:sp>
      <p:sp>
        <p:nvSpPr>
          <p:cNvPr id="3" name="Text 1"/>
          <p:cNvSpPr/>
          <p:nvPr/>
        </p:nvSpPr>
        <p:spPr>
          <a:xfrm>
            <a:off x="932688" y="310896"/>
            <a:ext cx="10707624" cy="640080"/>
          </a:xfrm>
          <a:prstGeom prst="rect">
            <a:avLst/>
          </a:prstGeom>
          <a:noFill/>
          <a:ln/>
        </p:spPr>
        <p:txBody>
          <a:bodyPr wrap="square" lIns="0" tIns="0" rIns="0" bIns="0" rtlCol="0" anchor="ctr"/>
          <a:lstStyle/>
          <a:p>
            <a:pPr algn="l" indent="0" marL="0">
              <a:buNone/>
            </a:pPr>
            <a:r>
              <a:rPr lang="en-US" sz="3000" b="1" dirty="0">
                <a:solidFill>
                  <a:srgbClr val="1A1A1A"/>
                </a:solidFill>
                <a:latin typeface="Calibri" pitchFamily="34" charset="0"/>
                <a:ea typeface="Calibri" pitchFamily="34" charset="-122"/>
                <a:cs typeface="Calibri" pitchFamily="34" charset="-120"/>
              </a:rPr>
              <a:t>Distance Drives the Fare</a:t>
            </a:r>
            <a:endParaRPr lang="en-US" sz="3000" dirty="0"/>
          </a:p>
        </p:txBody>
      </p:sp>
      <p:sp>
        <p:nvSpPr>
          <p:cNvPr id="4" name="Text 2"/>
          <p:cNvSpPr/>
          <p:nvPr/>
        </p:nvSpPr>
        <p:spPr>
          <a:xfrm>
            <a:off x="548640" y="1371600"/>
            <a:ext cx="4754880" cy="457200"/>
          </a:xfrm>
          <a:prstGeom prst="rect">
            <a:avLst/>
          </a:prstGeom>
          <a:noFill/>
          <a:ln/>
        </p:spPr>
        <p:txBody>
          <a:bodyPr wrap="square" lIns="0" tIns="0" rIns="0" bIns="0" rtlCol="0" anchor="ctr"/>
          <a:lstStyle/>
          <a:p>
            <a:pPr indent="0" marL="0">
              <a:buNone/>
            </a:pPr>
            <a:r>
              <a:rPr lang="en-US" sz="1800" b="1" dirty="0">
                <a:solidFill>
                  <a:srgbClr val="B07A00"/>
                </a:solidFill>
                <a:latin typeface="Calibri" pitchFamily="34" charset="0"/>
                <a:ea typeface="Calibri" pitchFamily="34" charset="-122"/>
                <a:cs typeface="Calibri" pitchFamily="34" charset="-120"/>
              </a:rPr>
              <a:t>The core relationship</a:t>
            </a:r>
            <a:endParaRPr lang="en-US" sz="1800" dirty="0"/>
          </a:p>
        </p:txBody>
      </p:sp>
      <p:sp>
        <p:nvSpPr>
          <p:cNvPr id="5" name="Text 3"/>
          <p:cNvSpPr/>
          <p:nvPr/>
        </p:nvSpPr>
        <p:spPr>
          <a:xfrm>
            <a:off x="548640" y="1874520"/>
            <a:ext cx="4846320" cy="3657600"/>
          </a:xfrm>
          <a:prstGeom prst="rect">
            <a:avLst/>
          </a:prstGeom>
          <a:noFill/>
          <a:ln/>
        </p:spPr>
        <p:txBody>
          <a:bodyPr wrap="square" lIns="0" tIns="0" rIns="0" bIns="0" rtlCol="0" anchor="t"/>
          <a:lstStyle/>
          <a:p>
            <a:pPr algn="l" marL="177800" indent="-177800">
              <a:spcAft>
                <a:spcPts val="800"/>
              </a:spcAft>
              <a:buSzPct val="100000"/>
              <a:buChar char="•"/>
            </a:pPr>
            <a:r>
              <a:rPr lang="en-US" sz="1600" dirty="0">
                <a:solidFill>
                  <a:srgbClr val="555555"/>
                </a:solidFill>
                <a:latin typeface="Calibri" pitchFamily="34" charset="0"/>
                <a:ea typeface="Calibri" pitchFamily="34" charset="-122"/>
                <a:cs typeface="Calibri" pitchFamily="34" charset="-120"/>
              </a:rPr>
              <a:t>Clear upward trend: longer trips cost more</a:t>
            </a:r>
            <a:endParaRPr lang="en-US" sz="1600" dirty="0"/>
          </a:p>
          <a:p>
            <a:pPr algn="l" marL="177800" indent="-177800">
              <a:spcAft>
                <a:spcPts val="800"/>
              </a:spcAft>
              <a:buSzPct val="100000"/>
              <a:buChar char="•"/>
            </a:pPr>
            <a:r>
              <a:rPr lang="en-US" sz="1600" dirty="0">
                <a:solidFill>
                  <a:srgbClr val="555555"/>
                </a:solidFill>
                <a:latin typeface="Calibri" pitchFamily="34" charset="0"/>
                <a:ea typeface="Calibri" pitchFamily="34" charset="-122"/>
                <a:cs typeface="Calibri" pitchFamily="34" charset="-120"/>
              </a:rPr>
              <a:t>The points form a tight band — distance explains most of the fare</a:t>
            </a:r>
            <a:endParaRPr lang="en-US" sz="1600" dirty="0"/>
          </a:p>
          <a:p>
            <a:pPr algn="l" marL="177800" indent="-177800">
              <a:spcAft>
                <a:spcPts val="800"/>
              </a:spcAft>
              <a:buSzPct val="100000"/>
              <a:buChar char="•"/>
            </a:pPr>
            <a:r>
              <a:rPr lang="en-US" sz="1600" dirty="0">
                <a:solidFill>
                  <a:srgbClr val="555555"/>
                </a:solidFill>
                <a:latin typeface="Calibri" pitchFamily="34" charset="0"/>
                <a:ea typeface="Calibri" pitchFamily="34" charset="-122"/>
                <a:cs typeface="Calibri" pitchFamily="34" charset="-120"/>
              </a:rPr>
              <a:t>The flat horizontal line near $70 is the JFK flat rate (same price regardless of distance)</a:t>
            </a:r>
            <a:endParaRPr lang="en-US" sz="1600" dirty="0"/>
          </a:p>
        </p:txBody>
      </p:sp>
      <p:sp>
        <p:nvSpPr>
          <p:cNvPr id="6" name="Shape 4"/>
          <p:cNvSpPr/>
          <p:nvPr/>
        </p:nvSpPr>
        <p:spPr>
          <a:xfrm>
            <a:off x="5669280" y="1325880"/>
            <a:ext cx="5971032" cy="4480560"/>
          </a:xfrm>
          <a:prstGeom prst="roundRect">
            <a:avLst>
              <a:gd name="adj" fmla="val 1633"/>
            </a:avLst>
          </a:prstGeom>
          <a:solidFill>
            <a:srgbClr val="FFFFFF"/>
          </a:solidFill>
          <a:ln/>
          <a:effectLst>
            <a:outerShdw sx="100000" sy="100000" kx="0" ky="0" algn="bl" rotWithShape="0" blurRad="88900" dist="38100" dir="5400000">
              <a:srgbClr val="000000">
                <a:alpha val="12000"/>
              </a:srgbClr>
            </a:outerShdw>
          </a:effectLst>
        </p:spPr>
      </p:sp>
      <p:pic>
        <p:nvPicPr>
          <p:cNvPr id="7" name="Image 0" descr="fig2_distance_vs_fare.png">    </p:cNvPr>
          <p:cNvPicPr>
            <a:picLocks noChangeAspect="1"/>
          </p:cNvPicPr>
          <p:nvPr/>
        </p:nvPicPr>
        <p:blipFill>
          <a:blip r:embed="rId1"/>
          <a:stretch>
            <a:fillRect/>
          </a:stretch>
        </p:blipFill>
        <p:spPr>
          <a:xfrm>
            <a:off x="5806440" y="1938528"/>
            <a:ext cx="5696712" cy="3255264"/>
          </a:xfrm>
          <a:prstGeom prst="rect">
            <a:avLst/>
          </a:prstGeom>
        </p:spPr>
      </p:pic>
      <p:sp>
        <p:nvSpPr>
          <p:cNvPr id="8" name="Text 5"/>
          <p:cNvSpPr/>
          <p:nvPr/>
        </p:nvSpPr>
        <p:spPr>
          <a:xfrm>
            <a:off x="5806440" y="5897880"/>
            <a:ext cx="5833872" cy="365760"/>
          </a:xfrm>
          <a:prstGeom prst="rect">
            <a:avLst/>
          </a:prstGeom>
          <a:noFill/>
          <a:ln/>
        </p:spPr>
        <p:txBody>
          <a:bodyPr wrap="square" lIns="0" tIns="0" rIns="0" bIns="0" rtlCol="0" anchor="ctr"/>
          <a:lstStyle/>
          <a:p>
            <a:pPr algn="l" indent="0" marL="0">
              <a:buNone/>
            </a:pPr>
            <a:r>
              <a:rPr lang="en-US" sz="1100" i="1" dirty="0">
                <a:solidFill>
                  <a:srgbClr val="8A8A8A"/>
                </a:solidFill>
                <a:latin typeface="Calibri" pitchFamily="34" charset="0"/>
                <a:ea typeface="Calibri" pitchFamily="34" charset="-122"/>
                <a:cs typeface="Calibri" pitchFamily="34" charset="-120"/>
              </a:rPr>
              <a:t>Figure 2 — Trip distance vs fare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237744" cy="237744"/>
          </a:xfrm>
          <a:prstGeom prst="roundRect">
            <a:avLst>
              <a:gd name="adj" fmla="val 15385"/>
            </a:avLst>
          </a:prstGeom>
          <a:solidFill>
            <a:srgbClr val="F5B301"/>
          </a:solidFill>
          <a:ln/>
        </p:spPr>
      </p:sp>
      <p:sp>
        <p:nvSpPr>
          <p:cNvPr id="3" name="Text 1"/>
          <p:cNvSpPr/>
          <p:nvPr/>
        </p:nvSpPr>
        <p:spPr>
          <a:xfrm>
            <a:off x="932688" y="310896"/>
            <a:ext cx="10707624" cy="640080"/>
          </a:xfrm>
          <a:prstGeom prst="rect">
            <a:avLst/>
          </a:prstGeom>
          <a:noFill/>
          <a:ln/>
        </p:spPr>
        <p:txBody>
          <a:bodyPr wrap="square" lIns="0" tIns="0" rIns="0" bIns="0" rtlCol="0" anchor="ctr"/>
          <a:lstStyle/>
          <a:p>
            <a:pPr algn="l" indent="0" marL="0">
              <a:buNone/>
            </a:pPr>
            <a:r>
              <a:rPr lang="en-US" sz="3000" b="1" dirty="0">
                <a:solidFill>
                  <a:srgbClr val="1A1A1A"/>
                </a:solidFill>
                <a:latin typeface="Calibri" pitchFamily="34" charset="0"/>
                <a:ea typeface="Calibri" pitchFamily="34" charset="-122"/>
                <a:cs typeface="Calibri" pitchFamily="34" charset="-120"/>
              </a:rPr>
              <a:t>Patterns in Time and Rate Type</a:t>
            </a:r>
            <a:endParaRPr lang="en-US" sz="3000" dirty="0"/>
          </a:p>
        </p:txBody>
      </p:sp>
      <p:sp>
        <p:nvSpPr>
          <p:cNvPr id="4" name="Shape 2"/>
          <p:cNvSpPr/>
          <p:nvPr/>
        </p:nvSpPr>
        <p:spPr>
          <a:xfrm>
            <a:off x="548640" y="1371600"/>
            <a:ext cx="5440680" cy="3657600"/>
          </a:xfrm>
          <a:prstGeom prst="roundRect">
            <a:avLst>
              <a:gd name="adj" fmla="val 2000"/>
            </a:avLst>
          </a:prstGeom>
          <a:solidFill>
            <a:srgbClr val="FFFFFF"/>
          </a:solidFill>
          <a:ln/>
          <a:effectLst>
            <a:outerShdw sx="100000" sy="100000" kx="0" ky="0" algn="bl" rotWithShape="0" blurRad="88900" dist="38100" dir="5400000">
              <a:srgbClr val="000000">
                <a:alpha val="12000"/>
              </a:srgbClr>
            </a:outerShdw>
          </a:effectLst>
        </p:spPr>
      </p:sp>
      <p:pic>
        <p:nvPicPr>
          <p:cNvPr id="5" name="Image 0" descr="fig3_fare_by_hour.png">    </p:cNvPr>
          <p:cNvPicPr>
            <a:picLocks noChangeAspect="1"/>
          </p:cNvPicPr>
          <p:nvPr/>
        </p:nvPicPr>
        <p:blipFill>
          <a:blip r:embed="rId1"/>
          <a:stretch>
            <a:fillRect/>
          </a:stretch>
        </p:blipFill>
        <p:spPr>
          <a:xfrm>
            <a:off x="868680" y="1508760"/>
            <a:ext cx="4800600" cy="2743200"/>
          </a:xfrm>
          <a:prstGeom prst="rect">
            <a:avLst/>
          </a:prstGeom>
        </p:spPr>
      </p:pic>
      <p:sp>
        <p:nvSpPr>
          <p:cNvPr id="6" name="Text 3"/>
          <p:cNvSpPr/>
          <p:nvPr/>
        </p:nvSpPr>
        <p:spPr>
          <a:xfrm>
            <a:off x="731520" y="4343400"/>
            <a:ext cx="5074920" cy="640080"/>
          </a:xfrm>
          <a:prstGeom prst="rect">
            <a:avLst/>
          </a:prstGeom>
          <a:noFill/>
          <a:ln/>
        </p:spPr>
        <p:txBody>
          <a:bodyPr wrap="square" lIns="0" tIns="0" rIns="0" bIns="0" rtlCol="0" anchor="t"/>
          <a:lstStyle/>
          <a:p>
            <a:pPr indent="0" marL="0">
              <a:buNone/>
            </a:pPr>
            <a:r>
              <a:rPr lang="en-US" sz="1300" dirty="0">
                <a:solidFill>
                  <a:srgbClr val="555555"/>
                </a:solidFill>
                <a:latin typeface="Calibri" pitchFamily="34" charset="0"/>
                <a:ea typeface="Calibri" pitchFamily="34" charset="-122"/>
                <a:cs typeface="Calibri" pitchFamily="34" charset="-120"/>
              </a:rPr>
              <a:t>Average fare is fairly steady by hour, with a small early-morning bump.</a:t>
            </a:r>
            <a:endParaRPr lang="en-US" sz="1300" dirty="0"/>
          </a:p>
        </p:txBody>
      </p:sp>
      <p:sp>
        <p:nvSpPr>
          <p:cNvPr id="7" name="Shape 4"/>
          <p:cNvSpPr/>
          <p:nvPr/>
        </p:nvSpPr>
        <p:spPr>
          <a:xfrm>
            <a:off x="6217920" y="1371600"/>
            <a:ext cx="5440680" cy="3657600"/>
          </a:xfrm>
          <a:prstGeom prst="roundRect">
            <a:avLst>
              <a:gd name="adj" fmla="val 2000"/>
            </a:avLst>
          </a:prstGeom>
          <a:solidFill>
            <a:srgbClr val="FFFFFF"/>
          </a:solidFill>
          <a:ln/>
          <a:effectLst>
            <a:outerShdw sx="100000" sy="100000" kx="0" ky="0" algn="bl" rotWithShape="0" blurRad="88900" dist="38100" dir="5400000">
              <a:srgbClr val="000000">
                <a:alpha val="12000"/>
              </a:srgbClr>
            </a:outerShdw>
          </a:effectLst>
        </p:spPr>
      </p:sp>
      <p:pic>
        <p:nvPicPr>
          <p:cNvPr id="8" name="Image 1" descr="fig4_fare_by_ratecode.png">    </p:cNvPr>
          <p:cNvPicPr>
            <a:picLocks noChangeAspect="1"/>
          </p:cNvPicPr>
          <p:nvPr/>
        </p:nvPicPr>
        <p:blipFill>
          <a:blip r:embed="rId2"/>
          <a:stretch>
            <a:fillRect/>
          </a:stretch>
        </p:blipFill>
        <p:spPr>
          <a:xfrm>
            <a:off x="6537960" y="1508760"/>
            <a:ext cx="4800600" cy="2743200"/>
          </a:xfrm>
          <a:prstGeom prst="rect">
            <a:avLst/>
          </a:prstGeom>
        </p:spPr>
      </p:pic>
      <p:sp>
        <p:nvSpPr>
          <p:cNvPr id="9" name="Text 5"/>
          <p:cNvSpPr/>
          <p:nvPr/>
        </p:nvSpPr>
        <p:spPr>
          <a:xfrm>
            <a:off x="6400800" y="4343400"/>
            <a:ext cx="5074920" cy="640080"/>
          </a:xfrm>
          <a:prstGeom prst="rect">
            <a:avLst/>
          </a:prstGeom>
          <a:noFill/>
          <a:ln/>
        </p:spPr>
        <p:txBody>
          <a:bodyPr wrap="square" lIns="0" tIns="0" rIns="0" bIns="0" rtlCol="0" anchor="t"/>
          <a:lstStyle/>
          <a:p>
            <a:pPr indent="0" marL="0">
              <a:buNone/>
            </a:pPr>
            <a:r>
              <a:rPr lang="en-US" sz="1300" dirty="0">
                <a:solidFill>
                  <a:srgbClr val="555555"/>
                </a:solidFill>
                <a:latin typeface="Calibri" pitchFamily="34" charset="0"/>
                <a:ea typeface="Calibri" pitchFamily="34" charset="-122"/>
                <a:cs typeface="Calibri" pitchFamily="34" charset="-120"/>
              </a:rPr>
              <a:t>Rate type matters a lot: standard (1) is cheap; airport / out-of-city rates are far higher.</a:t>
            </a:r>
            <a:endParaRPr lang="en-US" sz="1300" dirty="0"/>
          </a:p>
        </p:txBody>
      </p:sp>
      <p:sp>
        <p:nvSpPr>
          <p:cNvPr id="10" name="Text 6"/>
          <p:cNvSpPr/>
          <p:nvPr/>
        </p:nvSpPr>
        <p:spPr>
          <a:xfrm>
            <a:off x="548640" y="5212080"/>
            <a:ext cx="11091672" cy="365760"/>
          </a:xfrm>
          <a:prstGeom prst="rect">
            <a:avLst/>
          </a:prstGeom>
          <a:noFill/>
          <a:ln/>
        </p:spPr>
        <p:txBody>
          <a:bodyPr wrap="square" lIns="0" tIns="0" rIns="0" bIns="0" rtlCol="0" anchor="ctr"/>
          <a:lstStyle/>
          <a:p>
            <a:pPr algn="l" indent="0" marL="0">
              <a:buNone/>
            </a:pPr>
            <a:r>
              <a:rPr lang="en-US" sz="1100" i="1" dirty="0">
                <a:solidFill>
                  <a:srgbClr val="8A8A8A"/>
                </a:solidFill>
                <a:latin typeface="Calibri" pitchFamily="34" charset="0"/>
                <a:ea typeface="Calibri" pitchFamily="34" charset="-122"/>
                <a:cs typeface="Calibri" pitchFamily="34" charset="-120"/>
              </a:rPr>
              <a:t>Figure 3 — Average fare by hour      •      Figure 4 — Average fare by rate code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237744" cy="237744"/>
          </a:xfrm>
          <a:prstGeom prst="roundRect">
            <a:avLst>
              <a:gd name="adj" fmla="val 15385"/>
            </a:avLst>
          </a:prstGeom>
          <a:solidFill>
            <a:srgbClr val="F5B301"/>
          </a:solidFill>
          <a:ln/>
        </p:spPr>
      </p:sp>
      <p:sp>
        <p:nvSpPr>
          <p:cNvPr id="3" name="Text 1"/>
          <p:cNvSpPr/>
          <p:nvPr/>
        </p:nvSpPr>
        <p:spPr>
          <a:xfrm>
            <a:off x="932688" y="310896"/>
            <a:ext cx="10707624" cy="640080"/>
          </a:xfrm>
          <a:prstGeom prst="rect">
            <a:avLst/>
          </a:prstGeom>
          <a:noFill/>
          <a:ln/>
        </p:spPr>
        <p:txBody>
          <a:bodyPr wrap="square" lIns="0" tIns="0" rIns="0" bIns="0" rtlCol="0" anchor="ctr"/>
          <a:lstStyle/>
          <a:p>
            <a:pPr algn="l" indent="0" marL="0">
              <a:buNone/>
            </a:pPr>
            <a:r>
              <a:rPr lang="en-US" sz="3000" b="1" dirty="0">
                <a:solidFill>
                  <a:srgbClr val="1A1A1A"/>
                </a:solidFill>
                <a:latin typeface="Calibri" pitchFamily="34" charset="0"/>
                <a:ea typeface="Calibri" pitchFamily="34" charset="-122"/>
                <a:cs typeface="Calibri" pitchFamily="34" charset="-120"/>
              </a:rPr>
              <a:t>What Correlates with Fare?</a:t>
            </a:r>
            <a:endParaRPr lang="en-US" sz="3000" dirty="0"/>
          </a:p>
        </p:txBody>
      </p:sp>
      <p:sp>
        <p:nvSpPr>
          <p:cNvPr id="4" name="Text 2"/>
          <p:cNvSpPr/>
          <p:nvPr/>
        </p:nvSpPr>
        <p:spPr>
          <a:xfrm>
            <a:off x="548640" y="1371600"/>
            <a:ext cx="4754880" cy="457200"/>
          </a:xfrm>
          <a:prstGeom prst="rect">
            <a:avLst/>
          </a:prstGeom>
          <a:noFill/>
          <a:ln/>
        </p:spPr>
        <p:txBody>
          <a:bodyPr wrap="square" lIns="0" tIns="0" rIns="0" bIns="0" rtlCol="0" anchor="ctr"/>
          <a:lstStyle/>
          <a:p>
            <a:pPr indent="0" marL="0">
              <a:buNone/>
            </a:pPr>
            <a:r>
              <a:rPr lang="en-US" sz="1800" b="1" dirty="0">
                <a:solidFill>
                  <a:srgbClr val="B07A00"/>
                </a:solidFill>
                <a:latin typeface="Calibri" pitchFamily="34" charset="0"/>
                <a:ea typeface="Calibri" pitchFamily="34" charset="-122"/>
                <a:cs typeface="Calibri" pitchFamily="34" charset="-120"/>
              </a:rPr>
              <a:t>Distance is king</a:t>
            </a:r>
            <a:endParaRPr lang="en-US" sz="1800" dirty="0"/>
          </a:p>
        </p:txBody>
      </p:sp>
      <p:sp>
        <p:nvSpPr>
          <p:cNvPr id="5" name="Text 3"/>
          <p:cNvSpPr/>
          <p:nvPr/>
        </p:nvSpPr>
        <p:spPr>
          <a:xfrm>
            <a:off x="548640" y="1874520"/>
            <a:ext cx="4846320" cy="3657600"/>
          </a:xfrm>
          <a:prstGeom prst="rect">
            <a:avLst/>
          </a:prstGeom>
          <a:noFill/>
          <a:ln/>
        </p:spPr>
        <p:txBody>
          <a:bodyPr wrap="square" lIns="0" tIns="0" rIns="0" bIns="0" rtlCol="0" anchor="t"/>
          <a:lstStyle/>
          <a:p>
            <a:pPr algn="l" marL="177800" indent="-177800">
              <a:spcAft>
                <a:spcPts val="800"/>
              </a:spcAft>
              <a:buSzPct val="100000"/>
              <a:buChar char="•"/>
            </a:pPr>
            <a:r>
              <a:rPr lang="en-US" sz="1600" dirty="0">
                <a:solidFill>
                  <a:srgbClr val="555555"/>
                </a:solidFill>
                <a:latin typeface="Calibri" pitchFamily="34" charset="0"/>
                <a:ea typeface="Calibri" pitchFamily="34" charset="-122"/>
                <a:cs typeface="Calibri" pitchFamily="34" charset="-120"/>
              </a:rPr>
              <a:t>trip_distance has a very strong 0.93 correlation with fare</a:t>
            </a:r>
            <a:endParaRPr lang="en-US" sz="1600" dirty="0"/>
          </a:p>
          <a:p>
            <a:pPr algn="l" marL="177800" indent="-177800">
              <a:spcAft>
                <a:spcPts val="800"/>
              </a:spcAft>
              <a:buSzPct val="100000"/>
              <a:buChar char="•"/>
            </a:pPr>
            <a:r>
              <a:rPr lang="en-US" sz="1600" dirty="0">
                <a:solidFill>
                  <a:srgbClr val="555555"/>
                </a:solidFill>
                <a:latin typeface="Calibri" pitchFamily="34" charset="0"/>
                <a:ea typeface="Calibri" pitchFamily="34" charset="-122"/>
                <a:cs typeface="Calibri" pitchFamily="34" charset="-120"/>
              </a:rPr>
              <a:t>hour, day, month and passenger_count are all near zero</a:t>
            </a:r>
            <a:endParaRPr lang="en-US" sz="1600" dirty="0"/>
          </a:p>
          <a:p>
            <a:pPr algn="l" marL="177800" indent="-177800">
              <a:spcAft>
                <a:spcPts val="800"/>
              </a:spcAft>
              <a:buSzPct val="100000"/>
              <a:buChar char="•"/>
            </a:pPr>
            <a:r>
              <a:rPr lang="en-US" sz="1600" dirty="0">
                <a:solidFill>
                  <a:srgbClr val="555555"/>
                </a:solidFill>
                <a:latin typeface="Calibri" pitchFamily="34" charset="0"/>
                <a:ea typeface="Calibri" pitchFamily="34" charset="-122"/>
                <a:cs typeface="Calibri" pitchFamily="34" charset="-120"/>
              </a:rPr>
              <a:t>This tells us early that a distance-based model will be strong</a:t>
            </a:r>
            <a:endParaRPr lang="en-US" sz="1600" dirty="0"/>
          </a:p>
        </p:txBody>
      </p:sp>
      <p:sp>
        <p:nvSpPr>
          <p:cNvPr id="6" name="Shape 4"/>
          <p:cNvSpPr/>
          <p:nvPr/>
        </p:nvSpPr>
        <p:spPr>
          <a:xfrm>
            <a:off x="5669280" y="1325880"/>
            <a:ext cx="5971032" cy="4480560"/>
          </a:xfrm>
          <a:prstGeom prst="roundRect">
            <a:avLst>
              <a:gd name="adj" fmla="val 1633"/>
            </a:avLst>
          </a:prstGeom>
          <a:solidFill>
            <a:srgbClr val="FFFFFF"/>
          </a:solidFill>
          <a:ln/>
          <a:effectLst>
            <a:outerShdw sx="100000" sy="100000" kx="0" ky="0" algn="bl" rotWithShape="0" blurRad="88900" dist="38100" dir="5400000">
              <a:srgbClr val="000000">
                <a:alpha val="12000"/>
              </a:srgbClr>
            </a:outerShdw>
          </a:effectLst>
        </p:spPr>
      </p:sp>
      <p:pic>
        <p:nvPicPr>
          <p:cNvPr id="7" name="Image 0" descr="fig5_correlation.png">    </p:cNvPr>
          <p:cNvPicPr>
            <a:picLocks noChangeAspect="1"/>
          </p:cNvPicPr>
          <p:nvPr/>
        </p:nvPicPr>
        <p:blipFill>
          <a:blip r:embed="rId1"/>
          <a:stretch>
            <a:fillRect/>
          </a:stretch>
        </p:blipFill>
        <p:spPr>
          <a:xfrm>
            <a:off x="6131052" y="1463040"/>
            <a:ext cx="5047488" cy="4206240"/>
          </a:xfrm>
          <a:prstGeom prst="rect">
            <a:avLst/>
          </a:prstGeom>
        </p:spPr>
      </p:pic>
      <p:sp>
        <p:nvSpPr>
          <p:cNvPr id="8" name="Text 5"/>
          <p:cNvSpPr/>
          <p:nvPr/>
        </p:nvSpPr>
        <p:spPr>
          <a:xfrm>
            <a:off x="5806440" y="5897880"/>
            <a:ext cx="5833872" cy="365760"/>
          </a:xfrm>
          <a:prstGeom prst="rect">
            <a:avLst/>
          </a:prstGeom>
          <a:noFill/>
          <a:ln/>
        </p:spPr>
        <p:txBody>
          <a:bodyPr wrap="square" lIns="0" tIns="0" rIns="0" bIns="0" rtlCol="0" anchor="ctr"/>
          <a:lstStyle/>
          <a:p>
            <a:pPr algn="l" indent="0" marL="0">
              <a:buNone/>
            </a:pPr>
            <a:r>
              <a:rPr lang="en-US" sz="1100" i="1" dirty="0">
                <a:solidFill>
                  <a:srgbClr val="8A8A8A"/>
                </a:solidFill>
                <a:latin typeface="Calibri" pitchFamily="34" charset="0"/>
                <a:ea typeface="Calibri" pitchFamily="34" charset="-122"/>
                <a:cs typeface="Calibri" pitchFamily="34" charset="-120"/>
              </a:rPr>
              <a:t>Figure 5 — Correlation between features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237744" cy="237744"/>
          </a:xfrm>
          <a:prstGeom prst="roundRect">
            <a:avLst>
              <a:gd name="adj" fmla="val 15385"/>
            </a:avLst>
          </a:prstGeom>
          <a:solidFill>
            <a:srgbClr val="F5B301"/>
          </a:solidFill>
          <a:ln/>
        </p:spPr>
      </p:sp>
      <p:sp>
        <p:nvSpPr>
          <p:cNvPr id="3" name="Text 1"/>
          <p:cNvSpPr/>
          <p:nvPr/>
        </p:nvSpPr>
        <p:spPr>
          <a:xfrm>
            <a:off x="932688" y="310896"/>
            <a:ext cx="10707624" cy="640080"/>
          </a:xfrm>
          <a:prstGeom prst="rect">
            <a:avLst/>
          </a:prstGeom>
          <a:noFill/>
          <a:ln/>
        </p:spPr>
        <p:txBody>
          <a:bodyPr wrap="square" lIns="0" tIns="0" rIns="0" bIns="0" rtlCol="0" anchor="ctr"/>
          <a:lstStyle/>
          <a:p>
            <a:pPr algn="l" indent="0" marL="0">
              <a:buNone/>
            </a:pPr>
            <a:r>
              <a:rPr lang="en-US" sz="3000" b="1" dirty="0">
                <a:solidFill>
                  <a:srgbClr val="1A1A1A"/>
                </a:solidFill>
                <a:latin typeface="Calibri" pitchFamily="34" charset="0"/>
                <a:ea typeface="Calibri" pitchFamily="34" charset="-122"/>
                <a:cs typeface="Calibri" pitchFamily="34" charset="-120"/>
              </a:rPr>
              <a:t>How the Model Was Built</a:t>
            </a:r>
            <a:endParaRPr lang="en-US" sz="3000" dirty="0"/>
          </a:p>
        </p:txBody>
      </p:sp>
      <p:sp>
        <p:nvSpPr>
          <p:cNvPr id="4" name="Shape 2"/>
          <p:cNvSpPr/>
          <p:nvPr/>
        </p:nvSpPr>
        <p:spPr>
          <a:xfrm>
            <a:off x="548640" y="1463040"/>
            <a:ext cx="3453384" cy="1920240"/>
          </a:xfrm>
          <a:prstGeom prst="roundRect">
            <a:avLst>
              <a:gd name="adj" fmla="val 3810"/>
            </a:avLst>
          </a:prstGeom>
          <a:solidFill>
            <a:srgbClr val="F2F2F2"/>
          </a:solidFill>
          <a:ln/>
          <a:effectLst>
            <a:outerShdw sx="100000" sy="100000" kx="0" ky="0" algn="bl" rotWithShape="0" blurRad="88900" dist="38100" dir="5400000">
              <a:srgbClr val="000000">
                <a:alpha val="12000"/>
              </a:srgbClr>
            </a:outerShdw>
          </a:effectLst>
        </p:spPr>
      </p:sp>
      <p:sp>
        <p:nvSpPr>
          <p:cNvPr id="5" name="Shape 3"/>
          <p:cNvSpPr/>
          <p:nvPr/>
        </p:nvSpPr>
        <p:spPr>
          <a:xfrm>
            <a:off x="777240" y="1691640"/>
            <a:ext cx="548640" cy="548640"/>
          </a:xfrm>
          <a:prstGeom prst="ellipse">
            <a:avLst/>
          </a:prstGeom>
          <a:solidFill>
            <a:srgbClr val="F5B301"/>
          </a:solidFill>
          <a:ln/>
        </p:spPr>
      </p:sp>
      <p:sp>
        <p:nvSpPr>
          <p:cNvPr id="6" name="Text 4"/>
          <p:cNvSpPr/>
          <p:nvPr/>
        </p:nvSpPr>
        <p:spPr>
          <a:xfrm>
            <a:off x="777240" y="1691640"/>
            <a:ext cx="548640" cy="548640"/>
          </a:xfrm>
          <a:prstGeom prst="rect">
            <a:avLst/>
          </a:prstGeom>
          <a:noFill/>
          <a:ln/>
        </p:spPr>
        <p:txBody>
          <a:bodyPr wrap="square" lIns="0" tIns="0" rIns="0" bIns="0" rtlCol="0" anchor="ctr"/>
          <a:lstStyle/>
          <a:p>
            <a:pPr algn="ctr" indent="0" marL="0">
              <a:buNone/>
            </a:pPr>
            <a:r>
              <a:rPr lang="en-US" sz="2200" b="1" dirty="0">
                <a:solidFill>
                  <a:srgbClr val="1A1A1A"/>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1463040" y="1719072"/>
            <a:ext cx="2356104" cy="50292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Clean data</a:t>
            </a:r>
            <a:endParaRPr lang="en-US" sz="1600" dirty="0"/>
          </a:p>
        </p:txBody>
      </p:sp>
      <p:sp>
        <p:nvSpPr>
          <p:cNvPr id="8" name="Text 6"/>
          <p:cNvSpPr/>
          <p:nvPr/>
        </p:nvSpPr>
        <p:spPr>
          <a:xfrm>
            <a:off x="822960" y="2423160"/>
            <a:ext cx="2904744" cy="822960"/>
          </a:xfrm>
          <a:prstGeom prst="rect">
            <a:avLst/>
          </a:prstGeom>
          <a:noFill/>
          <a:ln/>
        </p:spPr>
        <p:txBody>
          <a:bodyPr wrap="square" lIns="0" tIns="0" rIns="0" bIns="0" rtlCol="0" anchor="t"/>
          <a:lstStyle/>
          <a:p>
            <a:pPr indent="0" marL="0">
              <a:buNone/>
            </a:pPr>
            <a:r>
              <a:rPr lang="en-US" sz="1350" dirty="0">
                <a:solidFill>
                  <a:srgbClr val="555555"/>
                </a:solidFill>
                <a:latin typeface="Calibri" pitchFamily="34" charset="0"/>
                <a:ea typeface="Calibri" pitchFamily="34" charset="-122"/>
                <a:cs typeface="Calibri" pitchFamily="34" charset="-120"/>
              </a:rPr>
              <a:t>Drop bad fares, distances and rate codes</a:t>
            </a:r>
            <a:endParaRPr lang="en-US" sz="1350" dirty="0"/>
          </a:p>
        </p:txBody>
      </p:sp>
      <p:sp>
        <p:nvSpPr>
          <p:cNvPr id="9" name="Shape 7"/>
          <p:cNvSpPr/>
          <p:nvPr/>
        </p:nvSpPr>
        <p:spPr>
          <a:xfrm>
            <a:off x="4367784" y="1463040"/>
            <a:ext cx="3453384" cy="1920240"/>
          </a:xfrm>
          <a:prstGeom prst="roundRect">
            <a:avLst>
              <a:gd name="adj" fmla="val 3810"/>
            </a:avLst>
          </a:prstGeom>
          <a:solidFill>
            <a:srgbClr val="F2F2F2"/>
          </a:solidFill>
          <a:ln/>
          <a:effectLst>
            <a:outerShdw sx="100000" sy="100000" kx="0" ky="0" algn="bl" rotWithShape="0" blurRad="88900" dist="38100" dir="5400000">
              <a:srgbClr val="000000">
                <a:alpha val="12000"/>
              </a:srgbClr>
            </a:outerShdw>
          </a:effectLst>
        </p:spPr>
      </p:sp>
      <p:sp>
        <p:nvSpPr>
          <p:cNvPr id="10" name="Shape 8"/>
          <p:cNvSpPr/>
          <p:nvPr/>
        </p:nvSpPr>
        <p:spPr>
          <a:xfrm>
            <a:off x="4596384" y="1691640"/>
            <a:ext cx="548640" cy="548640"/>
          </a:xfrm>
          <a:prstGeom prst="ellipse">
            <a:avLst/>
          </a:prstGeom>
          <a:solidFill>
            <a:srgbClr val="F5B301"/>
          </a:solidFill>
          <a:ln/>
        </p:spPr>
      </p:sp>
      <p:sp>
        <p:nvSpPr>
          <p:cNvPr id="11" name="Text 9"/>
          <p:cNvSpPr/>
          <p:nvPr/>
        </p:nvSpPr>
        <p:spPr>
          <a:xfrm>
            <a:off x="4596384" y="1691640"/>
            <a:ext cx="548640" cy="548640"/>
          </a:xfrm>
          <a:prstGeom prst="rect">
            <a:avLst/>
          </a:prstGeom>
          <a:noFill/>
          <a:ln/>
        </p:spPr>
        <p:txBody>
          <a:bodyPr wrap="square" lIns="0" tIns="0" rIns="0" bIns="0" rtlCol="0" anchor="ctr"/>
          <a:lstStyle/>
          <a:p>
            <a:pPr algn="ctr" indent="0" marL="0">
              <a:buNone/>
            </a:pPr>
            <a:r>
              <a:rPr lang="en-US" sz="2200" b="1" dirty="0">
                <a:solidFill>
                  <a:srgbClr val="1A1A1A"/>
                </a:solidFill>
                <a:latin typeface="Calibri" pitchFamily="34" charset="0"/>
                <a:ea typeface="Calibri" pitchFamily="34" charset="-122"/>
                <a:cs typeface="Calibri" pitchFamily="34" charset="-120"/>
              </a:rPr>
              <a:t>2</a:t>
            </a:r>
            <a:endParaRPr lang="en-US" sz="2200" dirty="0"/>
          </a:p>
        </p:txBody>
      </p:sp>
      <p:sp>
        <p:nvSpPr>
          <p:cNvPr id="12" name="Text 10"/>
          <p:cNvSpPr/>
          <p:nvPr/>
        </p:nvSpPr>
        <p:spPr>
          <a:xfrm>
            <a:off x="5282184" y="1719072"/>
            <a:ext cx="2356104" cy="50292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Engineer features</a:t>
            </a:r>
            <a:endParaRPr lang="en-US" sz="1600" dirty="0"/>
          </a:p>
        </p:txBody>
      </p:sp>
      <p:sp>
        <p:nvSpPr>
          <p:cNvPr id="13" name="Text 11"/>
          <p:cNvSpPr/>
          <p:nvPr/>
        </p:nvSpPr>
        <p:spPr>
          <a:xfrm>
            <a:off x="4642104" y="2423160"/>
            <a:ext cx="2904744" cy="822960"/>
          </a:xfrm>
          <a:prstGeom prst="rect">
            <a:avLst/>
          </a:prstGeom>
          <a:noFill/>
          <a:ln/>
        </p:spPr>
        <p:txBody>
          <a:bodyPr wrap="square" lIns="0" tIns="0" rIns="0" bIns="0" rtlCol="0" anchor="t"/>
          <a:lstStyle/>
          <a:p>
            <a:pPr indent="0" marL="0">
              <a:buNone/>
            </a:pPr>
            <a:r>
              <a:rPr lang="en-US" sz="1350" dirty="0">
                <a:solidFill>
                  <a:srgbClr val="555555"/>
                </a:solidFill>
                <a:latin typeface="Calibri" pitchFamily="34" charset="0"/>
                <a:ea typeface="Calibri" pitchFamily="34" charset="-122"/>
                <a:cs typeface="Calibri" pitchFamily="34" charset="-120"/>
              </a:rPr>
              <a:t>hour, day, month from pickup time</a:t>
            </a:r>
            <a:endParaRPr lang="en-US" sz="1350" dirty="0"/>
          </a:p>
        </p:txBody>
      </p:sp>
      <p:sp>
        <p:nvSpPr>
          <p:cNvPr id="14" name="Shape 12"/>
          <p:cNvSpPr/>
          <p:nvPr/>
        </p:nvSpPr>
        <p:spPr>
          <a:xfrm>
            <a:off x="8186928" y="1463040"/>
            <a:ext cx="3453384" cy="1920240"/>
          </a:xfrm>
          <a:prstGeom prst="roundRect">
            <a:avLst>
              <a:gd name="adj" fmla="val 3810"/>
            </a:avLst>
          </a:prstGeom>
          <a:solidFill>
            <a:srgbClr val="F2F2F2"/>
          </a:solidFill>
          <a:ln/>
          <a:effectLst>
            <a:outerShdw sx="100000" sy="100000" kx="0" ky="0" algn="bl" rotWithShape="0" blurRad="88900" dist="38100" dir="5400000">
              <a:srgbClr val="000000">
                <a:alpha val="12000"/>
              </a:srgbClr>
            </a:outerShdw>
          </a:effectLst>
        </p:spPr>
      </p:sp>
      <p:sp>
        <p:nvSpPr>
          <p:cNvPr id="15" name="Shape 13"/>
          <p:cNvSpPr/>
          <p:nvPr/>
        </p:nvSpPr>
        <p:spPr>
          <a:xfrm>
            <a:off x="8415528" y="1691640"/>
            <a:ext cx="548640" cy="548640"/>
          </a:xfrm>
          <a:prstGeom prst="ellipse">
            <a:avLst/>
          </a:prstGeom>
          <a:solidFill>
            <a:srgbClr val="F5B301"/>
          </a:solidFill>
          <a:ln/>
        </p:spPr>
      </p:sp>
      <p:sp>
        <p:nvSpPr>
          <p:cNvPr id="16" name="Text 14"/>
          <p:cNvSpPr/>
          <p:nvPr/>
        </p:nvSpPr>
        <p:spPr>
          <a:xfrm>
            <a:off x="8415528" y="1691640"/>
            <a:ext cx="548640" cy="548640"/>
          </a:xfrm>
          <a:prstGeom prst="rect">
            <a:avLst/>
          </a:prstGeom>
          <a:noFill/>
          <a:ln/>
        </p:spPr>
        <p:txBody>
          <a:bodyPr wrap="square" lIns="0" tIns="0" rIns="0" bIns="0" rtlCol="0" anchor="ctr"/>
          <a:lstStyle/>
          <a:p>
            <a:pPr algn="ctr" indent="0" marL="0">
              <a:buNone/>
            </a:pPr>
            <a:r>
              <a:rPr lang="en-US" sz="2200" b="1" dirty="0">
                <a:solidFill>
                  <a:srgbClr val="1A1A1A"/>
                </a:solidFill>
                <a:latin typeface="Calibri" pitchFamily="34" charset="0"/>
                <a:ea typeface="Calibri" pitchFamily="34" charset="-122"/>
                <a:cs typeface="Calibri" pitchFamily="34" charset="-120"/>
              </a:rPr>
              <a:t>3</a:t>
            </a:r>
            <a:endParaRPr lang="en-US" sz="2200" dirty="0"/>
          </a:p>
        </p:txBody>
      </p:sp>
      <p:sp>
        <p:nvSpPr>
          <p:cNvPr id="17" name="Text 15"/>
          <p:cNvSpPr/>
          <p:nvPr/>
        </p:nvSpPr>
        <p:spPr>
          <a:xfrm>
            <a:off x="9101328" y="1719072"/>
            <a:ext cx="2356104" cy="50292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Encode rate code</a:t>
            </a:r>
            <a:endParaRPr lang="en-US" sz="1600" dirty="0"/>
          </a:p>
        </p:txBody>
      </p:sp>
      <p:sp>
        <p:nvSpPr>
          <p:cNvPr id="18" name="Text 16"/>
          <p:cNvSpPr/>
          <p:nvPr/>
        </p:nvSpPr>
        <p:spPr>
          <a:xfrm>
            <a:off x="8461248" y="2423160"/>
            <a:ext cx="2904744" cy="822960"/>
          </a:xfrm>
          <a:prstGeom prst="rect">
            <a:avLst/>
          </a:prstGeom>
          <a:noFill/>
          <a:ln/>
        </p:spPr>
        <p:txBody>
          <a:bodyPr wrap="square" lIns="0" tIns="0" rIns="0" bIns="0" rtlCol="0" anchor="t"/>
          <a:lstStyle/>
          <a:p>
            <a:pPr indent="0" marL="0">
              <a:buNone/>
            </a:pPr>
            <a:r>
              <a:rPr lang="en-US" sz="1350" dirty="0">
                <a:solidFill>
                  <a:srgbClr val="555555"/>
                </a:solidFill>
                <a:latin typeface="Calibri" pitchFamily="34" charset="0"/>
                <a:ea typeface="Calibri" pitchFamily="34" charset="-122"/>
                <a:cs typeface="Calibri" pitchFamily="34" charset="-120"/>
              </a:rPr>
              <a:t>One-hot into rate_1 … rate_6</a:t>
            </a:r>
            <a:endParaRPr lang="en-US" sz="1350" dirty="0"/>
          </a:p>
        </p:txBody>
      </p:sp>
      <p:sp>
        <p:nvSpPr>
          <p:cNvPr id="19" name="Shape 17"/>
          <p:cNvSpPr/>
          <p:nvPr/>
        </p:nvSpPr>
        <p:spPr>
          <a:xfrm>
            <a:off x="548640" y="3749040"/>
            <a:ext cx="3453384" cy="1920240"/>
          </a:xfrm>
          <a:prstGeom prst="roundRect">
            <a:avLst>
              <a:gd name="adj" fmla="val 3810"/>
            </a:avLst>
          </a:prstGeom>
          <a:solidFill>
            <a:srgbClr val="F2F2F2"/>
          </a:solidFill>
          <a:ln/>
          <a:effectLst>
            <a:outerShdw sx="100000" sy="100000" kx="0" ky="0" algn="bl" rotWithShape="0" blurRad="88900" dist="38100" dir="5400000">
              <a:srgbClr val="000000">
                <a:alpha val="12000"/>
              </a:srgbClr>
            </a:outerShdw>
          </a:effectLst>
        </p:spPr>
      </p:sp>
      <p:sp>
        <p:nvSpPr>
          <p:cNvPr id="20" name="Shape 18"/>
          <p:cNvSpPr/>
          <p:nvPr/>
        </p:nvSpPr>
        <p:spPr>
          <a:xfrm>
            <a:off x="777240" y="3977640"/>
            <a:ext cx="548640" cy="548640"/>
          </a:xfrm>
          <a:prstGeom prst="ellipse">
            <a:avLst/>
          </a:prstGeom>
          <a:solidFill>
            <a:srgbClr val="F5B301"/>
          </a:solidFill>
          <a:ln/>
        </p:spPr>
      </p:sp>
      <p:sp>
        <p:nvSpPr>
          <p:cNvPr id="21" name="Text 19"/>
          <p:cNvSpPr/>
          <p:nvPr/>
        </p:nvSpPr>
        <p:spPr>
          <a:xfrm>
            <a:off x="777240" y="3977640"/>
            <a:ext cx="548640" cy="548640"/>
          </a:xfrm>
          <a:prstGeom prst="rect">
            <a:avLst/>
          </a:prstGeom>
          <a:noFill/>
          <a:ln/>
        </p:spPr>
        <p:txBody>
          <a:bodyPr wrap="square" lIns="0" tIns="0" rIns="0" bIns="0" rtlCol="0" anchor="ctr"/>
          <a:lstStyle/>
          <a:p>
            <a:pPr algn="ctr" indent="0" marL="0">
              <a:buNone/>
            </a:pPr>
            <a:r>
              <a:rPr lang="en-US" sz="2200" b="1" dirty="0">
                <a:solidFill>
                  <a:srgbClr val="1A1A1A"/>
                </a:solidFill>
                <a:latin typeface="Calibri" pitchFamily="34" charset="0"/>
                <a:ea typeface="Calibri" pitchFamily="34" charset="-122"/>
                <a:cs typeface="Calibri" pitchFamily="34" charset="-120"/>
              </a:rPr>
              <a:t>4</a:t>
            </a:r>
            <a:endParaRPr lang="en-US" sz="2200" dirty="0"/>
          </a:p>
        </p:txBody>
      </p:sp>
      <p:sp>
        <p:nvSpPr>
          <p:cNvPr id="22" name="Text 20"/>
          <p:cNvSpPr/>
          <p:nvPr/>
        </p:nvSpPr>
        <p:spPr>
          <a:xfrm>
            <a:off x="1463040" y="4005072"/>
            <a:ext cx="2356104" cy="50292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Split 80 / 20</a:t>
            </a:r>
            <a:endParaRPr lang="en-US" sz="1600" dirty="0"/>
          </a:p>
        </p:txBody>
      </p:sp>
      <p:sp>
        <p:nvSpPr>
          <p:cNvPr id="23" name="Text 21"/>
          <p:cNvSpPr/>
          <p:nvPr/>
        </p:nvSpPr>
        <p:spPr>
          <a:xfrm>
            <a:off x="822960" y="4709160"/>
            <a:ext cx="2904744" cy="822960"/>
          </a:xfrm>
          <a:prstGeom prst="rect">
            <a:avLst/>
          </a:prstGeom>
          <a:noFill/>
          <a:ln/>
        </p:spPr>
        <p:txBody>
          <a:bodyPr wrap="square" lIns="0" tIns="0" rIns="0" bIns="0" rtlCol="0" anchor="t"/>
          <a:lstStyle/>
          <a:p>
            <a:pPr indent="0" marL="0">
              <a:buNone/>
            </a:pPr>
            <a:r>
              <a:rPr lang="en-US" sz="1350" dirty="0">
                <a:solidFill>
                  <a:srgbClr val="555555"/>
                </a:solidFill>
                <a:latin typeface="Calibri" pitchFamily="34" charset="0"/>
                <a:ea typeface="Calibri" pitchFamily="34" charset="-122"/>
                <a:cs typeface="Calibri" pitchFamily="34" charset="-120"/>
              </a:rPr>
              <a:t>Train on 80%, test on unseen 20%</a:t>
            </a:r>
            <a:endParaRPr lang="en-US" sz="1350" dirty="0"/>
          </a:p>
        </p:txBody>
      </p:sp>
      <p:sp>
        <p:nvSpPr>
          <p:cNvPr id="24" name="Shape 22"/>
          <p:cNvSpPr/>
          <p:nvPr/>
        </p:nvSpPr>
        <p:spPr>
          <a:xfrm>
            <a:off x="4367784" y="3749040"/>
            <a:ext cx="3453384" cy="1920240"/>
          </a:xfrm>
          <a:prstGeom prst="roundRect">
            <a:avLst>
              <a:gd name="adj" fmla="val 3810"/>
            </a:avLst>
          </a:prstGeom>
          <a:solidFill>
            <a:srgbClr val="F2F2F2"/>
          </a:solidFill>
          <a:ln/>
          <a:effectLst>
            <a:outerShdw sx="100000" sy="100000" kx="0" ky="0" algn="bl" rotWithShape="0" blurRad="88900" dist="38100" dir="5400000">
              <a:srgbClr val="000000">
                <a:alpha val="12000"/>
              </a:srgbClr>
            </a:outerShdw>
          </a:effectLst>
        </p:spPr>
      </p:sp>
      <p:sp>
        <p:nvSpPr>
          <p:cNvPr id="25" name="Shape 23"/>
          <p:cNvSpPr/>
          <p:nvPr/>
        </p:nvSpPr>
        <p:spPr>
          <a:xfrm>
            <a:off x="4596384" y="3977640"/>
            <a:ext cx="548640" cy="548640"/>
          </a:xfrm>
          <a:prstGeom prst="ellipse">
            <a:avLst/>
          </a:prstGeom>
          <a:solidFill>
            <a:srgbClr val="F5B301"/>
          </a:solidFill>
          <a:ln/>
        </p:spPr>
      </p:sp>
      <p:sp>
        <p:nvSpPr>
          <p:cNvPr id="26" name="Text 24"/>
          <p:cNvSpPr/>
          <p:nvPr/>
        </p:nvSpPr>
        <p:spPr>
          <a:xfrm>
            <a:off x="4596384" y="3977640"/>
            <a:ext cx="548640" cy="548640"/>
          </a:xfrm>
          <a:prstGeom prst="rect">
            <a:avLst/>
          </a:prstGeom>
          <a:noFill/>
          <a:ln/>
        </p:spPr>
        <p:txBody>
          <a:bodyPr wrap="square" lIns="0" tIns="0" rIns="0" bIns="0" rtlCol="0" anchor="ctr"/>
          <a:lstStyle/>
          <a:p>
            <a:pPr algn="ctr" indent="0" marL="0">
              <a:buNone/>
            </a:pPr>
            <a:r>
              <a:rPr lang="en-US" sz="2200" b="1" dirty="0">
                <a:solidFill>
                  <a:srgbClr val="1A1A1A"/>
                </a:solidFill>
                <a:latin typeface="Calibri" pitchFamily="34" charset="0"/>
                <a:ea typeface="Calibri" pitchFamily="34" charset="-122"/>
                <a:cs typeface="Calibri" pitchFamily="34" charset="-120"/>
              </a:rPr>
              <a:t>5</a:t>
            </a:r>
            <a:endParaRPr lang="en-US" sz="2200" dirty="0"/>
          </a:p>
        </p:txBody>
      </p:sp>
      <p:sp>
        <p:nvSpPr>
          <p:cNvPr id="27" name="Text 25"/>
          <p:cNvSpPr/>
          <p:nvPr/>
        </p:nvSpPr>
        <p:spPr>
          <a:xfrm>
            <a:off x="5282184" y="4005072"/>
            <a:ext cx="2356104" cy="50292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Train two models</a:t>
            </a:r>
            <a:endParaRPr lang="en-US" sz="1600" dirty="0"/>
          </a:p>
        </p:txBody>
      </p:sp>
      <p:sp>
        <p:nvSpPr>
          <p:cNvPr id="28" name="Text 26"/>
          <p:cNvSpPr/>
          <p:nvPr/>
        </p:nvSpPr>
        <p:spPr>
          <a:xfrm>
            <a:off x="4642104" y="4709160"/>
            <a:ext cx="2904744" cy="822960"/>
          </a:xfrm>
          <a:prstGeom prst="rect">
            <a:avLst/>
          </a:prstGeom>
          <a:noFill/>
          <a:ln/>
        </p:spPr>
        <p:txBody>
          <a:bodyPr wrap="square" lIns="0" tIns="0" rIns="0" bIns="0" rtlCol="0" anchor="t"/>
          <a:lstStyle/>
          <a:p>
            <a:pPr indent="0" marL="0">
              <a:buNone/>
            </a:pPr>
            <a:r>
              <a:rPr lang="en-US" sz="1350" dirty="0">
                <a:solidFill>
                  <a:srgbClr val="555555"/>
                </a:solidFill>
                <a:latin typeface="Calibri" pitchFamily="34" charset="0"/>
                <a:ea typeface="Calibri" pitchFamily="34" charset="-122"/>
                <a:cs typeface="Calibri" pitchFamily="34" charset="-120"/>
              </a:rPr>
              <a:t>Linear Regression and Random Forest</a:t>
            </a:r>
            <a:endParaRPr lang="en-US" sz="1350" dirty="0"/>
          </a:p>
        </p:txBody>
      </p:sp>
      <p:sp>
        <p:nvSpPr>
          <p:cNvPr id="29" name="Shape 27"/>
          <p:cNvSpPr/>
          <p:nvPr/>
        </p:nvSpPr>
        <p:spPr>
          <a:xfrm>
            <a:off x="8186928" y="3749040"/>
            <a:ext cx="3453384" cy="1920240"/>
          </a:xfrm>
          <a:prstGeom prst="roundRect">
            <a:avLst>
              <a:gd name="adj" fmla="val 3810"/>
            </a:avLst>
          </a:prstGeom>
          <a:solidFill>
            <a:srgbClr val="F2F2F2"/>
          </a:solidFill>
          <a:ln/>
          <a:effectLst>
            <a:outerShdw sx="100000" sy="100000" kx="0" ky="0" algn="bl" rotWithShape="0" blurRad="88900" dist="38100" dir="5400000">
              <a:srgbClr val="000000">
                <a:alpha val="12000"/>
              </a:srgbClr>
            </a:outerShdw>
          </a:effectLst>
        </p:spPr>
      </p:sp>
      <p:sp>
        <p:nvSpPr>
          <p:cNvPr id="30" name="Shape 28"/>
          <p:cNvSpPr/>
          <p:nvPr/>
        </p:nvSpPr>
        <p:spPr>
          <a:xfrm>
            <a:off x="8415528" y="3977640"/>
            <a:ext cx="548640" cy="548640"/>
          </a:xfrm>
          <a:prstGeom prst="ellipse">
            <a:avLst/>
          </a:prstGeom>
          <a:solidFill>
            <a:srgbClr val="F5B301"/>
          </a:solidFill>
          <a:ln/>
        </p:spPr>
      </p:sp>
      <p:sp>
        <p:nvSpPr>
          <p:cNvPr id="31" name="Text 29"/>
          <p:cNvSpPr/>
          <p:nvPr/>
        </p:nvSpPr>
        <p:spPr>
          <a:xfrm>
            <a:off x="8415528" y="3977640"/>
            <a:ext cx="548640" cy="548640"/>
          </a:xfrm>
          <a:prstGeom prst="rect">
            <a:avLst/>
          </a:prstGeom>
          <a:noFill/>
          <a:ln/>
        </p:spPr>
        <p:txBody>
          <a:bodyPr wrap="square" lIns="0" tIns="0" rIns="0" bIns="0" rtlCol="0" anchor="ctr"/>
          <a:lstStyle/>
          <a:p>
            <a:pPr algn="ctr" indent="0" marL="0">
              <a:buNone/>
            </a:pPr>
            <a:r>
              <a:rPr lang="en-US" sz="2200" b="1" dirty="0">
                <a:solidFill>
                  <a:srgbClr val="1A1A1A"/>
                </a:solidFill>
                <a:latin typeface="Calibri" pitchFamily="34" charset="0"/>
                <a:ea typeface="Calibri" pitchFamily="34" charset="-122"/>
                <a:cs typeface="Calibri" pitchFamily="34" charset="-120"/>
              </a:rPr>
              <a:t>6</a:t>
            </a:r>
            <a:endParaRPr lang="en-US" sz="2200" dirty="0"/>
          </a:p>
        </p:txBody>
      </p:sp>
      <p:sp>
        <p:nvSpPr>
          <p:cNvPr id="32" name="Text 30"/>
          <p:cNvSpPr/>
          <p:nvPr/>
        </p:nvSpPr>
        <p:spPr>
          <a:xfrm>
            <a:off x="9101328" y="4005072"/>
            <a:ext cx="2356104" cy="50292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Evaluate</a:t>
            </a:r>
            <a:endParaRPr lang="en-US" sz="1600" dirty="0"/>
          </a:p>
        </p:txBody>
      </p:sp>
      <p:sp>
        <p:nvSpPr>
          <p:cNvPr id="33" name="Text 31"/>
          <p:cNvSpPr/>
          <p:nvPr/>
        </p:nvSpPr>
        <p:spPr>
          <a:xfrm>
            <a:off x="8461248" y="4709160"/>
            <a:ext cx="2904744" cy="822960"/>
          </a:xfrm>
          <a:prstGeom prst="rect">
            <a:avLst/>
          </a:prstGeom>
          <a:noFill/>
          <a:ln/>
        </p:spPr>
        <p:txBody>
          <a:bodyPr wrap="square" lIns="0" tIns="0" rIns="0" bIns="0" rtlCol="0" anchor="t"/>
          <a:lstStyle/>
          <a:p>
            <a:pPr indent="0" marL="0">
              <a:buNone/>
            </a:pPr>
            <a:r>
              <a:rPr lang="en-US" sz="1350" dirty="0">
                <a:solidFill>
                  <a:srgbClr val="555555"/>
                </a:solidFill>
                <a:latin typeface="Calibri" pitchFamily="34" charset="0"/>
                <a:ea typeface="Calibri" pitchFamily="34" charset="-122"/>
                <a:cs typeface="Calibri" pitchFamily="34" charset="-120"/>
              </a:rPr>
              <a:t>Compare RMSE, MAE and R²</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237744" cy="237744"/>
          </a:xfrm>
          <a:prstGeom prst="roundRect">
            <a:avLst>
              <a:gd name="adj" fmla="val 15385"/>
            </a:avLst>
          </a:prstGeom>
          <a:solidFill>
            <a:srgbClr val="F5B301"/>
          </a:solidFill>
          <a:ln/>
        </p:spPr>
      </p:sp>
      <p:sp>
        <p:nvSpPr>
          <p:cNvPr id="3" name="Text 1"/>
          <p:cNvSpPr/>
          <p:nvPr/>
        </p:nvSpPr>
        <p:spPr>
          <a:xfrm>
            <a:off x="932688" y="310896"/>
            <a:ext cx="10707624" cy="640080"/>
          </a:xfrm>
          <a:prstGeom prst="rect">
            <a:avLst/>
          </a:prstGeom>
          <a:noFill/>
          <a:ln/>
        </p:spPr>
        <p:txBody>
          <a:bodyPr wrap="square" lIns="0" tIns="0" rIns="0" bIns="0" rtlCol="0" anchor="ctr"/>
          <a:lstStyle/>
          <a:p>
            <a:pPr algn="l" indent="0" marL="0">
              <a:buNone/>
            </a:pPr>
            <a:r>
              <a:rPr lang="en-US" sz="3000" b="1" dirty="0">
                <a:solidFill>
                  <a:srgbClr val="1A1A1A"/>
                </a:solidFill>
                <a:latin typeface="Calibri" pitchFamily="34" charset="0"/>
                <a:ea typeface="Calibri" pitchFamily="34" charset="-122"/>
                <a:cs typeface="Calibri" pitchFamily="34" charset="-120"/>
              </a:rPr>
              <a:t>How the Project Is Built</a:t>
            </a:r>
            <a:endParaRPr lang="en-US" sz="3000" dirty="0"/>
          </a:p>
        </p:txBody>
      </p:sp>
      <p:sp>
        <p:nvSpPr>
          <p:cNvPr id="4" name="Shape 2"/>
          <p:cNvSpPr/>
          <p:nvPr/>
        </p:nvSpPr>
        <p:spPr>
          <a:xfrm>
            <a:off x="548640" y="1417320"/>
            <a:ext cx="6217920" cy="2103120"/>
          </a:xfrm>
          <a:prstGeom prst="roundRect">
            <a:avLst>
              <a:gd name="adj" fmla="val 2609"/>
            </a:avLst>
          </a:prstGeom>
          <a:solidFill>
            <a:srgbClr val="1E1E1E"/>
          </a:solidFill>
          <a:ln/>
          <a:effectLst>
            <a:outerShdw sx="100000" sy="100000" kx="0" ky="0" algn="bl" rotWithShape="0" blurRad="88900" dist="38100" dir="5400000">
              <a:srgbClr val="000000">
                <a:alpha val="12000"/>
              </a:srgbClr>
            </a:outerShdw>
          </a:effectLst>
        </p:spPr>
      </p:sp>
      <p:sp>
        <p:nvSpPr>
          <p:cNvPr id="5" name="Text 3"/>
          <p:cNvSpPr/>
          <p:nvPr/>
        </p:nvSpPr>
        <p:spPr>
          <a:xfrm>
            <a:off x="804672" y="1618488"/>
            <a:ext cx="5705856" cy="1700784"/>
          </a:xfrm>
          <a:prstGeom prst="rect">
            <a:avLst/>
          </a:prstGeom>
          <a:noFill/>
          <a:ln/>
        </p:spPr>
        <p:txBody>
          <a:bodyPr wrap="square" lIns="0" tIns="0" rIns="0" bIns="0" rtlCol="0" anchor="t"/>
          <a:lstStyle/>
          <a:p>
            <a:pPr algn="l" indent="0" marL="0">
              <a:buNone/>
            </a:pPr>
            <a:r>
              <a:rPr lang="en-US" sz="1300" dirty="0">
                <a:solidFill>
                  <a:srgbClr val="F5B301"/>
                </a:solidFill>
                <a:latin typeface="Courier New" pitchFamily="34" charset="0"/>
                <a:ea typeface="Courier New" pitchFamily="34" charset="-122"/>
                <a:cs typeface="Courier New" pitchFamily="34" charset="-120"/>
              </a:rPr>
              <a:t>taxi-fare-prediction/</a:t>
            </a:r>
            <a:endParaRPr lang="en-US" sz="1300" dirty="0"/>
          </a:p>
          <a:p>
            <a:pPr algn="l" indent="0" marL="0">
              <a:buNone/>
            </a:pPr>
            <a:r>
              <a:rPr lang="en-US" sz="1300" dirty="0">
                <a:solidFill>
                  <a:srgbClr val="EAEAEA"/>
                </a:solidFill>
                <a:latin typeface="Courier New" pitchFamily="34" charset="0"/>
                <a:ea typeface="Courier New" pitchFamily="34" charset="-122"/>
                <a:cs typeface="Courier New" pitchFamily="34" charset="-120"/>
              </a:rPr>
              <a:t>├─ taxi-fare-prediction.ipynb   (training)</a:t>
            </a:r>
            <a:endParaRPr lang="en-US" sz="1300" dirty="0"/>
          </a:p>
          <a:p>
            <a:pPr algn="l" indent="0" marL="0">
              <a:buNone/>
            </a:pPr>
            <a:r>
              <a:rPr lang="en-US" sz="1300" dirty="0">
                <a:solidFill>
                  <a:srgbClr val="EAEAEA"/>
                </a:solidFill>
                <a:latin typeface="Courier New" pitchFamily="34" charset="0"/>
                <a:ea typeface="Courier New" pitchFamily="34" charset="-122"/>
                <a:cs typeface="Courier New" pitchFamily="34" charset="-120"/>
              </a:rPr>
              <a:t>├─ app.py                       (web app)</a:t>
            </a:r>
            <a:endParaRPr lang="en-US" sz="1300" dirty="0"/>
          </a:p>
          <a:p>
            <a:pPr algn="l" indent="0" marL="0">
              <a:buNone/>
            </a:pPr>
            <a:r>
              <a:rPr lang="en-US" sz="1300" dirty="0">
                <a:solidFill>
                  <a:srgbClr val="EAEAEA"/>
                </a:solidFill>
                <a:latin typeface="Courier New" pitchFamily="34" charset="0"/>
                <a:ea typeface="Courier New" pitchFamily="34" charset="-122"/>
                <a:cs typeface="Courier New" pitchFamily="34" charset="-120"/>
              </a:rPr>
              <a:t>├─ fare_model.pkl               (saved model)</a:t>
            </a:r>
            <a:endParaRPr lang="en-US" sz="1300" dirty="0"/>
          </a:p>
          <a:p>
            <a:pPr algn="l" indent="0" marL="0">
              <a:buNone/>
            </a:pPr>
            <a:r>
              <a:rPr lang="en-US" sz="1300" dirty="0">
                <a:solidFill>
                  <a:srgbClr val="EAEAEA"/>
                </a:solidFill>
                <a:latin typeface="Courier New" pitchFamily="34" charset="0"/>
                <a:ea typeface="Courier New" pitchFamily="34" charset="-122"/>
                <a:cs typeface="Courier New" pitchFamily="34" charset="-120"/>
              </a:rPr>
              <a:t>└─ README.md</a:t>
            </a:r>
            <a:endParaRPr lang="en-US" sz="1300" dirty="0"/>
          </a:p>
        </p:txBody>
      </p:sp>
      <p:sp>
        <p:nvSpPr>
          <p:cNvPr id="6" name="Text 4"/>
          <p:cNvSpPr/>
          <p:nvPr/>
        </p:nvSpPr>
        <p:spPr>
          <a:xfrm>
            <a:off x="548640" y="3749040"/>
            <a:ext cx="6217920" cy="822960"/>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Flow:  </a:t>
            </a:r>
            <a:pPr indent="0" marL="0">
              <a:buNone/>
            </a:pPr>
            <a:r>
              <a:rPr lang="en-US" sz="1500" dirty="0">
                <a:solidFill>
                  <a:srgbClr val="555555"/>
                </a:solidFill>
                <a:latin typeface="Calibri" pitchFamily="34" charset="0"/>
                <a:ea typeface="Calibri" pitchFamily="34" charset="-122"/>
                <a:cs typeface="Calibri" pitchFamily="34" charset="-120"/>
              </a:rPr>
              <a:t>train in the notebook  →  save the model  →  the app loads it.</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949440" y="1417320"/>
          <a:ext cx="4690872" cy="914400"/>
        </p:xfrm>
        <a:graphic>
          <a:graphicData uri="http://schemas.openxmlformats.org/drawingml/2006/table">
            <a:tbl>
              <a:tblPr/>
              <a:tblGrid>
                <a:gridCol w="1554480"/>
                <a:gridCol w="3136392"/>
              </a:tblGrid>
              <a:tr h="4754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Library</a:t>
                      </a:r>
                      <a:endParaRPr lang="en-US" sz="14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A1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Used for</a:t>
                      </a:r>
                      <a:endParaRPr lang="en-US" sz="14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A1A"/>
                    </a:solidFill>
                  </a:tcPr>
                </a:tc>
              </a:tr>
              <a:tr h="475488">
                <a:tc>
                  <a:txBody>
                    <a:bodyPr/>
                    <a:lstStyle/>
                    <a:p>
                      <a:pPr indent="0" marL="0">
                        <a:buNone/>
                      </a:pPr>
                      <a:r>
                        <a:rPr lang="en-US" sz="1350" b="1" dirty="0">
                          <a:solidFill>
                            <a:srgbClr val="1A1A1A"/>
                          </a:solidFill>
                          <a:latin typeface="Courier New" pitchFamily="34" charset="0"/>
                          <a:ea typeface="Courier New" pitchFamily="34" charset="-122"/>
                          <a:cs typeface="Courier New" pitchFamily="34" charset="-120"/>
                        </a:rPr>
                        <a:t>pandas</a:t>
                      </a:r>
                      <a:endParaRPr lang="en-US" sz="1350" dirty="0">
                        <a:latin typeface="Courier New" charset="0"/>
                        <a:ea typeface="Courier New" charset="0"/>
                        <a:cs typeface="Courier New"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350" dirty="0">
                          <a:solidFill>
                            <a:srgbClr val="555555"/>
                          </a:solidFill>
                          <a:latin typeface="Calibri" pitchFamily="34" charset="0"/>
                          <a:ea typeface="Calibri" pitchFamily="34" charset="-122"/>
                          <a:cs typeface="Calibri" pitchFamily="34" charset="-120"/>
                        </a:rPr>
                        <a:t>Load and clean the data</a:t>
                      </a:r>
                      <a:endParaRPr lang="en-US" sz="13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75488">
                <a:tc>
                  <a:txBody>
                    <a:bodyPr/>
                    <a:lstStyle/>
                    <a:p>
                      <a:pPr indent="0" marL="0">
                        <a:buNone/>
                      </a:pPr>
                      <a:r>
                        <a:rPr lang="en-US" sz="1350" b="1" dirty="0">
                          <a:solidFill>
                            <a:srgbClr val="1A1A1A"/>
                          </a:solidFill>
                          <a:latin typeface="Courier New" pitchFamily="34" charset="0"/>
                          <a:ea typeface="Courier New" pitchFamily="34" charset="-122"/>
                          <a:cs typeface="Courier New" pitchFamily="34" charset="-120"/>
                        </a:rPr>
                        <a:t>scikit-learn</a:t>
                      </a:r>
                      <a:endParaRPr lang="en-US" sz="1350" dirty="0">
                        <a:latin typeface="Courier New" charset="0"/>
                        <a:ea typeface="Courier New" charset="0"/>
                        <a:cs typeface="Courier New"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indent="0" marL="0">
                        <a:buNone/>
                      </a:pPr>
                      <a:r>
                        <a:rPr lang="en-US" sz="1350" dirty="0">
                          <a:solidFill>
                            <a:srgbClr val="555555"/>
                          </a:solidFill>
                          <a:latin typeface="Calibri" pitchFamily="34" charset="0"/>
                          <a:ea typeface="Calibri" pitchFamily="34" charset="-122"/>
                          <a:cs typeface="Calibri" pitchFamily="34" charset="-120"/>
                        </a:rPr>
                        <a:t>Build models, measure accuracy</a:t>
                      </a:r>
                      <a:endParaRPr lang="en-US" sz="13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475488">
                <a:tc>
                  <a:txBody>
                    <a:bodyPr/>
                    <a:lstStyle/>
                    <a:p>
                      <a:pPr indent="0" marL="0">
                        <a:buNone/>
                      </a:pPr>
                      <a:r>
                        <a:rPr lang="en-US" sz="1350" b="1" dirty="0">
                          <a:solidFill>
                            <a:srgbClr val="1A1A1A"/>
                          </a:solidFill>
                          <a:latin typeface="Courier New" pitchFamily="34" charset="0"/>
                          <a:ea typeface="Courier New" pitchFamily="34" charset="-122"/>
                          <a:cs typeface="Courier New" pitchFamily="34" charset="-120"/>
                        </a:rPr>
                        <a:t>matplotlib</a:t>
                      </a:r>
                      <a:endParaRPr lang="en-US" sz="1350" dirty="0">
                        <a:latin typeface="Courier New" charset="0"/>
                        <a:ea typeface="Courier New" charset="0"/>
                        <a:cs typeface="Courier New"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350" dirty="0">
                          <a:solidFill>
                            <a:srgbClr val="555555"/>
                          </a:solidFill>
                          <a:latin typeface="Calibri" pitchFamily="34" charset="0"/>
                          <a:ea typeface="Calibri" pitchFamily="34" charset="-122"/>
                          <a:cs typeface="Calibri" pitchFamily="34" charset="-120"/>
                        </a:rPr>
                        <a:t>Create the charts</a:t>
                      </a:r>
                      <a:endParaRPr lang="en-US" sz="13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75488">
                <a:tc>
                  <a:txBody>
                    <a:bodyPr/>
                    <a:lstStyle/>
                    <a:p>
                      <a:pPr indent="0" marL="0">
                        <a:buNone/>
                      </a:pPr>
                      <a:r>
                        <a:rPr lang="en-US" sz="1350" b="1" dirty="0">
                          <a:solidFill>
                            <a:srgbClr val="1A1A1A"/>
                          </a:solidFill>
                          <a:latin typeface="Courier New" pitchFamily="34" charset="0"/>
                          <a:ea typeface="Courier New" pitchFamily="34" charset="-122"/>
                          <a:cs typeface="Courier New" pitchFamily="34" charset="-120"/>
                        </a:rPr>
                        <a:t>joblib</a:t>
                      </a:r>
                      <a:endParaRPr lang="en-US" sz="1350" dirty="0">
                        <a:latin typeface="Courier New" charset="0"/>
                        <a:ea typeface="Courier New" charset="0"/>
                        <a:cs typeface="Courier New"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indent="0" marL="0">
                        <a:buNone/>
                      </a:pPr>
                      <a:r>
                        <a:rPr lang="en-US" sz="1350" dirty="0">
                          <a:solidFill>
                            <a:srgbClr val="555555"/>
                          </a:solidFill>
                          <a:latin typeface="Calibri" pitchFamily="34" charset="0"/>
                          <a:ea typeface="Calibri" pitchFamily="34" charset="-122"/>
                          <a:cs typeface="Calibri" pitchFamily="34" charset="-120"/>
                        </a:rPr>
                        <a:t>Save and load the model</a:t>
                      </a:r>
                      <a:endParaRPr lang="en-US" sz="13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475488">
                <a:tc>
                  <a:txBody>
                    <a:bodyPr/>
                    <a:lstStyle/>
                    <a:p>
                      <a:pPr indent="0" marL="0">
                        <a:buNone/>
                      </a:pPr>
                      <a:r>
                        <a:rPr lang="en-US" sz="1350" b="1" dirty="0">
                          <a:solidFill>
                            <a:srgbClr val="1A1A1A"/>
                          </a:solidFill>
                          <a:latin typeface="Courier New" pitchFamily="34" charset="0"/>
                          <a:ea typeface="Courier New" pitchFamily="34" charset="-122"/>
                          <a:cs typeface="Courier New" pitchFamily="34" charset="-120"/>
                        </a:rPr>
                        <a:t>streamlit</a:t>
                      </a:r>
                      <a:endParaRPr lang="en-US" sz="1350" dirty="0">
                        <a:latin typeface="Courier New" charset="0"/>
                        <a:ea typeface="Courier New" charset="0"/>
                        <a:cs typeface="Courier New"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350" dirty="0">
                          <a:solidFill>
                            <a:srgbClr val="555555"/>
                          </a:solidFill>
                          <a:latin typeface="Calibri" pitchFamily="34" charset="0"/>
                          <a:ea typeface="Calibri" pitchFamily="34" charset="-122"/>
                          <a:cs typeface="Calibri" pitchFamily="34" charset="-120"/>
                        </a:rPr>
                        <a:t>Build the web app</a:t>
                      </a:r>
                      <a:endParaRPr lang="en-US" sz="13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237744" cy="237744"/>
          </a:xfrm>
          <a:prstGeom prst="roundRect">
            <a:avLst>
              <a:gd name="adj" fmla="val 15385"/>
            </a:avLst>
          </a:prstGeom>
          <a:solidFill>
            <a:srgbClr val="F5B301"/>
          </a:solidFill>
          <a:ln/>
        </p:spPr>
      </p:sp>
      <p:sp>
        <p:nvSpPr>
          <p:cNvPr id="3" name="Text 1"/>
          <p:cNvSpPr/>
          <p:nvPr/>
        </p:nvSpPr>
        <p:spPr>
          <a:xfrm>
            <a:off x="932688" y="310896"/>
            <a:ext cx="10707624" cy="640080"/>
          </a:xfrm>
          <a:prstGeom prst="rect">
            <a:avLst/>
          </a:prstGeom>
          <a:noFill/>
          <a:ln/>
        </p:spPr>
        <p:txBody>
          <a:bodyPr wrap="square" lIns="0" tIns="0" rIns="0" bIns="0" rtlCol="0" anchor="ctr"/>
          <a:lstStyle/>
          <a:p>
            <a:pPr algn="l" indent="0" marL="0">
              <a:buNone/>
            </a:pPr>
            <a:r>
              <a:rPr lang="en-US" sz="3000" b="1" dirty="0">
                <a:solidFill>
                  <a:srgbClr val="1A1A1A"/>
                </a:solidFill>
                <a:latin typeface="Calibri" pitchFamily="34" charset="0"/>
                <a:ea typeface="Calibri" pitchFamily="34" charset="-122"/>
                <a:cs typeface="Calibri" pitchFamily="34" charset="-120"/>
              </a:rPr>
              <a:t>Key Code — Building the Features</a:t>
            </a:r>
            <a:endParaRPr lang="en-US" sz="3000" dirty="0"/>
          </a:p>
        </p:txBody>
      </p:sp>
      <p:sp>
        <p:nvSpPr>
          <p:cNvPr id="4" name="Shape 2"/>
          <p:cNvSpPr/>
          <p:nvPr/>
        </p:nvSpPr>
        <p:spPr>
          <a:xfrm>
            <a:off x="548640" y="1371600"/>
            <a:ext cx="6858000" cy="4206240"/>
          </a:xfrm>
          <a:prstGeom prst="roundRect">
            <a:avLst>
              <a:gd name="adj" fmla="val 1304"/>
            </a:avLst>
          </a:prstGeom>
          <a:solidFill>
            <a:srgbClr val="1E1E1E"/>
          </a:solidFill>
          <a:ln/>
          <a:effectLst>
            <a:outerShdw sx="100000" sy="100000" kx="0" ky="0" algn="bl" rotWithShape="0" blurRad="88900" dist="38100" dir="5400000">
              <a:srgbClr val="000000">
                <a:alpha val="12000"/>
              </a:srgbClr>
            </a:outerShdw>
          </a:effectLst>
        </p:spPr>
      </p:sp>
      <p:sp>
        <p:nvSpPr>
          <p:cNvPr id="5" name="Text 3"/>
          <p:cNvSpPr/>
          <p:nvPr/>
        </p:nvSpPr>
        <p:spPr>
          <a:xfrm>
            <a:off x="804672" y="1572768"/>
            <a:ext cx="6345936" cy="3803904"/>
          </a:xfrm>
          <a:prstGeom prst="rect">
            <a:avLst/>
          </a:prstGeom>
          <a:noFill/>
          <a:ln/>
        </p:spPr>
        <p:txBody>
          <a:bodyPr wrap="square" lIns="0" tIns="0" rIns="0" bIns="0" rtlCol="0" anchor="t"/>
          <a:lstStyle/>
          <a:p>
            <a:pPr algn="l" indent="0" marL="0">
              <a:buNone/>
            </a:pPr>
            <a:r>
              <a:rPr lang="en-US" sz="1300" dirty="0">
                <a:solidFill>
                  <a:srgbClr val="8FBC8F"/>
                </a:solidFill>
                <a:latin typeface="Courier New" pitchFamily="34" charset="0"/>
                <a:ea typeface="Courier New" pitchFamily="34" charset="-122"/>
                <a:cs typeface="Courier New" pitchFamily="34" charset="-120"/>
              </a:rPr>
              <a:t># Create time features from pickup time</a:t>
            </a:r>
            <a:endParaRPr lang="en-US" sz="1300" dirty="0"/>
          </a:p>
          <a:p>
            <a:pPr algn="l" indent="0" marL="0">
              <a:buNone/>
            </a:pPr>
            <a:r>
              <a:rPr lang="en-US" sz="1300" dirty="0">
                <a:solidFill>
                  <a:srgbClr val="EAEAEA"/>
                </a:solidFill>
                <a:latin typeface="Courier New" pitchFamily="34" charset="0"/>
                <a:ea typeface="Courier New" pitchFamily="34" charset="-122"/>
                <a:cs typeface="Courier New" pitchFamily="34" charset="-120"/>
              </a:rPr>
              <a:t>col = "tpep_pickup_datetime"</a:t>
            </a:r>
            <a:endParaRPr lang="en-US" sz="1300" dirty="0"/>
          </a:p>
          <a:p>
            <a:pPr algn="l" indent="0" marL="0">
              <a:buNone/>
            </a:pPr>
            <a:r>
              <a:rPr lang="en-US" sz="1300" dirty="0">
                <a:solidFill>
                  <a:srgbClr val="EAEAEA"/>
                </a:solidFill>
                <a:latin typeface="Courier New" pitchFamily="34" charset="0"/>
                <a:ea typeface="Courier New" pitchFamily="34" charset="-122"/>
                <a:cs typeface="Courier New" pitchFamily="34" charset="-120"/>
              </a:rPr>
              <a:t>df[col] = pd.to_datetime(df[col])</a:t>
            </a:r>
            <a:endParaRPr lang="en-US" sz="1300" dirty="0"/>
          </a:p>
          <a:p>
            <a:pPr algn="l" indent="0" marL="0">
              <a:buNone/>
            </a:pPr>
            <a:r>
              <a:rPr lang="en-US" sz="1300" dirty="0">
                <a:solidFill>
                  <a:srgbClr val="EAEAEA"/>
                </a:solidFill>
                <a:latin typeface="Courier New" pitchFamily="34" charset="0"/>
                <a:ea typeface="Courier New" pitchFamily="34" charset="-122"/>
                <a:cs typeface="Courier New" pitchFamily="34" charset="-120"/>
              </a:rPr>
              <a:t>df["hour"]        = df[col].dt.hour</a:t>
            </a:r>
            <a:endParaRPr lang="en-US" sz="1300" dirty="0"/>
          </a:p>
          <a:p>
            <a:pPr algn="l" indent="0" marL="0">
              <a:buNone/>
            </a:pPr>
            <a:r>
              <a:rPr lang="en-US" sz="1300" dirty="0">
                <a:solidFill>
                  <a:srgbClr val="EAEAEA"/>
                </a:solidFill>
                <a:latin typeface="Courier New" pitchFamily="34" charset="0"/>
                <a:ea typeface="Courier New" pitchFamily="34" charset="-122"/>
                <a:cs typeface="Courier New" pitchFamily="34" charset="-120"/>
              </a:rPr>
              <a:t>df["day_of_week"] = df[col].dt.dayofweek</a:t>
            </a:r>
            <a:endParaRPr lang="en-US" sz="1300" dirty="0"/>
          </a:p>
          <a:p>
            <a:pPr algn="l" indent="0" marL="0">
              <a:buNone/>
            </a:pPr>
            <a:r>
              <a:rPr lang="en-US" sz="1300" dirty="0">
                <a:solidFill>
                  <a:srgbClr val="EAEAEA"/>
                </a:solidFill>
                <a:latin typeface="Courier New" pitchFamily="34" charset="0"/>
                <a:ea typeface="Courier New" pitchFamily="34" charset="-122"/>
                <a:cs typeface="Courier New" pitchFamily="34" charset="-120"/>
              </a:rPr>
              <a:t>df["month"]       = df[col].dt.month</a:t>
            </a:r>
            <a:endParaRPr lang="en-US" sz="1300" dirty="0"/>
          </a:p>
          <a:p>
            <a:pPr algn="l" indent="0" marL="0">
              <a:buNone/>
            </a:pPr>
            <a:endParaRPr lang="en-US" sz="1300" dirty="0"/>
          </a:p>
          <a:p>
            <a:pPr algn="l" indent="0" marL="0">
              <a:buNone/>
            </a:pPr>
            <a:r>
              <a:rPr lang="en-US" sz="1300" dirty="0">
                <a:solidFill>
                  <a:srgbClr val="8FBC8F"/>
                </a:solidFill>
                <a:latin typeface="Courier New" pitchFamily="34" charset="0"/>
                <a:ea typeface="Courier New" pitchFamily="34" charset="-122"/>
                <a:cs typeface="Courier New" pitchFamily="34" charset="-120"/>
              </a:rPr>
              <a:t># One-hot encode the rate type</a:t>
            </a:r>
            <a:endParaRPr lang="en-US" sz="1300" dirty="0"/>
          </a:p>
          <a:p>
            <a:pPr algn="l" indent="0" marL="0">
              <a:buNone/>
            </a:pPr>
            <a:r>
              <a:rPr lang="en-US" sz="1300" dirty="0">
                <a:solidFill>
                  <a:srgbClr val="EAEAEA"/>
                </a:solidFill>
                <a:latin typeface="Courier New" pitchFamily="34" charset="0"/>
                <a:ea typeface="Courier New" pitchFamily="34" charset="-122"/>
                <a:cs typeface="Courier New" pitchFamily="34" charset="-120"/>
              </a:rPr>
              <a:t>dummies = pd.get_dummies(</a:t>
            </a:r>
            <a:endParaRPr lang="en-US" sz="1300" dirty="0"/>
          </a:p>
          <a:p>
            <a:pPr algn="l" indent="0" marL="0">
              <a:buNone/>
            </a:pPr>
            <a:r>
              <a:rPr lang="en-US" sz="1300" dirty="0">
                <a:solidFill>
                  <a:srgbClr val="EAEAEA"/>
                </a:solidFill>
                <a:latin typeface="Courier New" pitchFamily="34" charset="0"/>
                <a:ea typeface="Courier New" pitchFamily="34" charset="-122"/>
                <a:cs typeface="Courier New" pitchFamily="34" charset="-120"/>
              </a:rPr>
              <a:t>    df["RatecodeID"], prefix="rate")</a:t>
            </a:r>
            <a:endParaRPr lang="en-US" sz="1300" dirty="0"/>
          </a:p>
          <a:p>
            <a:pPr algn="l" indent="0" marL="0">
              <a:buNone/>
            </a:pPr>
            <a:r>
              <a:rPr lang="en-US" sz="1300" dirty="0">
                <a:solidFill>
                  <a:srgbClr val="F5B301"/>
                </a:solidFill>
                <a:latin typeface="Courier New" pitchFamily="34" charset="0"/>
                <a:ea typeface="Courier New" pitchFamily="34" charset="-122"/>
                <a:cs typeface="Courier New" pitchFamily="34" charset="-120"/>
              </a:rPr>
              <a:t>X = pd.concat([X, dummies], axis=1)</a:t>
            </a:r>
            <a:endParaRPr lang="en-US" sz="1300" dirty="0"/>
          </a:p>
        </p:txBody>
      </p:sp>
      <p:sp>
        <p:nvSpPr>
          <p:cNvPr id="6" name="Text 4"/>
          <p:cNvSpPr/>
          <p:nvPr/>
        </p:nvSpPr>
        <p:spPr>
          <a:xfrm>
            <a:off x="7680960" y="1554480"/>
            <a:ext cx="3959352" cy="3657600"/>
          </a:xfrm>
          <a:prstGeom prst="rect">
            <a:avLst/>
          </a:prstGeom>
          <a:noFill/>
          <a:ln/>
        </p:spPr>
        <p:txBody>
          <a:bodyPr wrap="square" lIns="0" tIns="0" rIns="0" bIns="0" rtlCol="0" anchor="t"/>
          <a:lstStyle/>
          <a:p>
            <a:pPr algn="l" marL="177800" indent="-177800">
              <a:spcAft>
                <a:spcPts val="800"/>
              </a:spcAft>
              <a:buSzPct val="100000"/>
              <a:buChar char="•"/>
            </a:pPr>
            <a:r>
              <a:rPr lang="en-US" sz="1500" dirty="0">
                <a:solidFill>
                  <a:srgbClr val="555555"/>
                </a:solidFill>
                <a:latin typeface="Calibri" pitchFamily="34" charset="0"/>
                <a:ea typeface="Calibri" pitchFamily="34" charset="-122"/>
                <a:cs typeface="Calibri" pitchFamily="34" charset="-120"/>
              </a:rPr>
              <a:t>Convert the text timestamp into a real datetime</a:t>
            </a:r>
            <a:endParaRPr lang="en-US" sz="1500" dirty="0"/>
          </a:p>
          <a:p>
            <a:pPr algn="l" marL="177800" indent="-177800">
              <a:spcAft>
                <a:spcPts val="800"/>
              </a:spcAft>
              <a:buSzPct val="100000"/>
              <a:buChar char="•"/>
            </a:pPr>
            <a:r>
              <a:rPr lang="en-US" sz="1500" dirty="0">
                <a:solidFill>
                  <a:srgbClr val="555555"/>
                </a:solidFill>
                <a:latin typeface="Calibri" pitchFamily="34" charset="0"/>
                <a:ea typeface="Calibri" pitchFamily="34" charset="-122"/>
                <a:cs typeface="Calibri" pitchFamily="34" charset="-120"/>
              </a:rPr>
              <a:t>Pull out hour, day of week, and month</a:t>
            </a:r>
            <a:endParaRPr lang="en-US" sz="1500" dirty="0"/>
          </a:p>
          <a:p>
            <a:pPr algn="l" marL="177800" indent="-177800">
              <a:spcAft>
                <a:spcPts val="800"/>
              </a:spcAft>
              <a:buSzPct val="100000"/>
              <a:buChar char="•"/>
            </a:pPr>
            <a:r>
              <a:rPr lang="en-US" sz="1500" dirty="0">
                <a:solidFill>
                  <a:srgbClr val="555555"/>
                </a:solidFill>
                <a:latin typeface="Calibri" pitchFamily="34" charset="0"/>
                <a:ea typeface="Calibri" pitchFamily="34" charset="-122"/>
                <a:cs typeface="Calibri" pitchFamily="34" charset="-120"/>
              </a:rPr>
              <a:t>get_dummies turns the rate code into rate_1 … rate_6</a:t>
            </a:r>
            <a:endParaRPr lang="en-US" sz="1500" dirty="0"/>
          </a:p>
          <a:p>
            <a:pPr algn="l" marL="177800" indent="-177800">
              <a:spcAft>
                <a:spcPts val="800"/>
              </a:spcAft>
              <a:buSzPct val="100000"/>
              <a:buChar char="•"/>
            </a:pPr>
            <a:r>
              <a:rPr lang="en-US" sz="1500" dirty="0">
                <a:solidFill>
                  <a:srgbClr val="555555"/>
                </a:solidFill>
                <a:latin typeface="Calibri" pitchFamily="34" charset="0"/>
                <a:ea typeface="Calibri" pitchFamily="34" charset="-122"/>
                <a:cs typeface="Calibri" pitchFamily="34" charset="-120"/>
              </a:rPr>
              <a:t>These columns become the model's inputs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237744" cy="237744"/>
          </a:xfrm>
          <a:prstGeom prst="roundRect">
            <a:avLst>
              <a:gd name="adj" fmla="val 15385"/>
            </a:avLst>
          </a:prstGeom>
          <a:solidFill>
            <a:srgbClr val="F5B301"/>
          </a:solidFill>
          <a:ln/>
        </p:spPr>
      </p:sp>
      <p:sp>
        <p:nvSpPr>
          <p:cNvPr id="3" name="Text 1"/>
          <p:cNvSpPr/>
          <p:nvPr/>
        </p:nvSpPr>
        <p:spPr>
          <a:xfrm>
            <a:off x="932688" y="310896"/>
            <a:ext cx="10707624" cy="640080"/>
          </a:xfrm>
          <a:prstGeom prst="rect">
            <a:avLst/>
          </a:prstGeom>
          <a:noFill/>
          <a:ln/>
        </p:spPr>
        <p:txBody>
          <a:bodyPr wrap="square" lIns="0" tIns="0" rIns="0" bIns="0" rtlCol="0" anchor="ctr"/>
          <a:lstStyle/>
          <a:p>
            <a:pPr algn="l" indent="0" marL="0">
              <a:buNone/>
            </a:pPr>
            <a:r>
              <a:rPr lang="en-US" sz="3000" b="1" dirty="0">
                <a:solidFill>
                  <a:srgbClr val="1A1A1A"/>
                </a:solidFill>
                <a:latin typeface="Calibri" pitchFamily="34" charset="0"/>
                <a:ea typeface="Calibri" pitchFamily="34" charset="-122"/>
                <a:cs typeface="Calibri" pitchFamily="34" charset="-120"/>
              </a:rPr>
              <a:t>Key Code — Train, Compare, Save</a:t>
            </a:r>
            <a:endParaRPr lang="en-US" sz="3000" dirty="0"/>
          </a:p>
        </p:txBody>
      </p:sp>
      <p:sp>
        <p:nvSpPr>
          <p:cNvPr id="4" name="Shape 2"/>
          <p:cNvSpPr/>
          <p:nvPr/>
        </p:nvSpPr>
        <p:spPr>
          <a:xfrm>
            <a:off x="548640" y="1371600"/>
            <a:ext cx="6858000" cy="4389120"/>
          </a:xfrm>
          <a:prstGeom prst="roundRect">
            <a:avLst>
              <a:gd name="adj" fmla="val 1250"/>
            </a:avLst>
          </a:prstGeom>
          <a:solidFill>
            <a:srgbClr val="1E1E1E"/>
          </a:solidFill>
          <a:ln/>
          <a:effectLst>
            <a:outerShdw sx="100000" sy="100000" kx="0" ky="0" algn="bl" rotWithShape="0" blurRad="88900" dist="38100" dir="5400000">
              <a:srgbClr val="000000">
                <a:alpha val="12000"/>
              </a:srgbClr>
            </a:outerShdw>
          </a:effectLst>
        </p:spPr>
      </p:sp>
      <p:sp>
        <p:nvSpPr>
          <p:cNvPr id="5" name="Text 3"/>
          <p:cNvSpPr/>
          <p:nvPr/>
        </p:nvSpPr>
        <p:spPr>
          <a:xfrm>
            <a:off x="804672" y="1572768"/>
            <a:ext cx="6345936" cy="3986784"/>
          </a:xfrm>
          <a:prstGeom prst="rect">
            <a:avLst/>
          </a:prstGeom>
          <a:noFill/>
          <a:ln/>
        </p:spPr>
        <p:txBody>
          <a:bodyPr wrap="square" lIns="0" tIns="0" rIns="0" bIns="0" rtlCol="0" anchor="t"/>
          <a:lstStyle/>
          <a:p>
            <a:pPr algn="l" indent="0" marL="0">
              <a:buNone/>
            </a:pPr>
            <a:r>
              <a:rPr lang="en-US" sz="1300" dirty="0">
                <a:solidFill>
                  <a:srgbClr val="8FBC8F"/>
                </a:solidFill>
                <a:latin typeface="Courier New" pitchFamily="34" charset="0"/>
                <a:ea typeface="Courier New" pitchFamily="34" charset="-122"/>
                <a:cs typeface="Courier New" pitchFamily="34" charset="-120"/>
              </a:rPr>
              <a:t># Train two models</a:t>
            </a:r>
            <a:endParaRPr lang="en-US" sz="1300" dirty="0"/>
          </a:p>
          <a:p>
            <a:pPr algn="l" indent="0" marL="0">
              <a:buNone/>
            </a:pPr>
            <a:r>
              <a:rPr lang="en-US" sz="1300" dirty="0">
                <a:solidFill>
                  <a:srgbClr val="EAEAEA"/>
                </a:solidFill>
                <a:latin typeface="Courier New" pitchFamily="34" charset="0"/>
                <a:ea typeface="Courier New" pitchFamily="34" charset="-122"/>
                <a:cs typeface="Courier New" pitchFamily="34" charset="-120"/>
              </a:rPr>
              <a:t>lr = LinearRegression().fit(X_train, y_train)</a:t>
            </a:r>
            <a:endParaRPr lang="en-US" sz="1300" dirty="0"/>
          </a:p>
          <a:p>
            <a:pPr algn="l" indent="0" marL="0">
              <a:buNone/>
            </a:pPr>
            <a:r>
              <a:rPr lang="en-US" sz="1300" dirty="0">
                <a:solidFill>
                  <a:srgbClr val="EAEAEA"/>
                </a:solidFill>
                <a:latin typeface="Courier New" pitchFamily="34" charset="0"/>
                <a:ea typeface="Courier New" pitchFamily="34" charset="-122"/>
                <a:cs typeface="Courier New" pitchFamily="34" charset="-120"/>
              </a:rPr>
              <a:t>rf = RandomForestRegressor(</a:t>
            </a:r>
            <a:endParaRPr lang="en-US" sz="1300" dirty="0"/>
          </a:p>
          <a:p>
            <a:pPr algn="l" indent="0" marL="0">
              <a:buNone/>
            </a:pPr>
            <a:r>
              <a:rPr lang="en-US" sz="1300" dirty="0">
                <a:solidFill>
                  <a:srgbClr val="EAEAEA"/>
                </a:solidFill>
                <a:latin typeface="Courier New" pitchFamily="34" charset="0"/>
                <a:ea typeface="Courier New" pitchFamily="34" charset="-122"/>
                <a:cs typeface="Courier New" pitchFamily="34" charset="-120"/>
              </a:rPr>
              <a:t>        n_estimators=30, max_depth=12,</a:t>
            </a:r>
            <a:endParaRPr lang="en-US" sz="1300" dirty="0"/>
          </a:p>
          <a:p>
            <a:pPr algn="l" indent="0" marL="0">
              <a:buNone/>
            </a:pPr>
            <a:r>
              <a:rPr lang="en-US" sz="1300" dirty="0">
                <a:solidFill>
                  <a:srgbClr val="EAEAEA"/>
                </a:solidFill>
                <a:latin typeface="Courier New" pitchFamily="34" charset="0"/>
                <a:ea typeface="Courier New" pitchFamily="34" charset="-122"/>
                <a:cs typeface="Courier New" pitchFamily="34" charset="-120"/>
              </a:rPr>
              <a:t>        min_samples_leaf=50, random_state=42</a:t>
            </a:r>
            <a:endParaRPr lang="en-US" sz="1300" dirty="0"/>
          </a:p>
          <a:p>
            <a:pPr algn="l" indent="0" marL="0">
              <a:buNone/>
            </a:pPr>
            <a:r>
              <a:rPr lang="en-US" sz="1300" dirty="0">
                <a:solidFill>
                  <a:srgbClr val="EAEAEA"/>
                </a:solidFill>
                <a:latin typeface="Courier New" pitchFamily="34" charset="0"/>
                <a:ea typeface="Courier New" pitchFamily="34" charset="-122"/>
                <a:cs typeface="Courier New" pitchFamily="34" charset="-120"/>
              </a:rPr>
              <a:t>     ).fit(X_train, y_train)</a:t>
            </a:r>
            <a:endParaRPr lang="en-US" sz="1300" dirty="0"/>
          </a:p>
          <a:p>
            <a:pPr algn="l" indent="0" marL="0">
              <a:buNone/>
            </a:pPr>
            <a:endParaRPr lang="en-US" sz="1300" dirty="0"/>
          </a:p>
          <a:p>
            <a:pPr algn="l" indent="0" marL="0">
              <a:buNone/>
            </a:pPr>
            <a:r>
              <a:rPr lang="en-US" sz="1300" dirty="0">
                <a:solidFill>
                  <a:srgbClr val="8FBC8F"/>
                </a:solidFill>
                <a:latin typeface="Courier New" pitchFamily="34" charset="0"/>
                <a:ea typeface="Courier New" pitchFamily="34" charset="-122"/>
                <a:cs typeface="Courier New" pitchFamily="34" charset="-120"/>
              </a:rPr>
              <a:t># Keep whichever has the lower error</a:t>
            </a:r>
            <a:endParaRPr lang="en-US" sz="1300" dirty="0"/>
          </a:p>
          <a:p>
            <a:pPr algn="l" indent="0" marL="0">
              <a:buNone/>
            </a:pPr>
            <a:r>
              <a:rPr lang="en-US" sz="1300" dirty="0">
                <a:solidFill>
                  <a:srgbClr val="EAEAEA"/>
                </a:solidFill>
                <a:latin typeface="Courier New" pitchFamily="34" charset="0"/>
                <a:ea typeface="Courier New" pitchFamily="34" charset="-122"/>
                <a:cs typeface="Courier New" pitchFamily="34" charset="-120"/>
              </a:rPr>
              <a:t>best = rf if rf_rmse &lt;= lr_rmse else lr</a:t>
            </a:r>
            <a:endParaRPr lang="en-US" sz="1300" dirty="0"/>
          </a:p>
          <a:p>
            <a:pPr algn="l" indent="0" marL="0">
              <a:buNone/>
            </a:pPr>
            <a:endParaRPr lang="en-US" sz="1300" dirty="0"/>
          </a:p>
          <a:p>
            <a:pPr algn="l" indent="0" marL="0">
              <a:buNone/>
            </a:pPr>
            <a:r>
              <a:rPr lang="en-US" sz="1300" dirty="0">
                <a:solidFill>
                  <a:srgbClr val="8FBC8F"/>
                </a:solidFill>
                <a:latin typeface="Courier New" pitchFamily="34" charset="0"/>
                <a:ea typeface="Courier New" pitchFamily="34" charset="-122"/>
                <a:cs typeface="Courier New" pitchFamily="34" charset="-120"/>
              </a:rPr>
              <a:t># Save model AND feature order together</a:t>
            </a:r>
            <a:endParaRPr lang="en-US" sz="1300" dirty="0"/>
          </a:p>
          <a:p>
            <a:pPr algn="l" indent="0" marL="0">
              <a:buNone/>
            </a:pPr>
            <a:r>
              <a:rPr lang="en-US" sz="1300" dirty="0">
                <a:solidFill>
                  <a:srgbClr val="F5B301"/>
                </a:solidFill>
                <a:latin typeface="Courier New" pitchFamily="34" charset="0"/>
                <a:ea typeface="Courier New" pitchFamily="34" charset="-122"/>
                <a:cs typeface="Courier New" pitchFamily="34" charset="-120"/>
              </a:rPr>
              <a:t>joblib.dump({"model": best,</a:t>
            </a:r>
            <a:endParaRPr lang="en-US" sz="1300" dirty="0"/>
          </a:p>
          <a:p>
            <a:pPr algn="l" indent="0" marL="0">
              <a:buNone/>
            </a:pPr>
            <a:r>
              <a:rPr lang="en-US" sz="1300" dirty="0">
                <a:solidFill>
                  <a:srgbClr val="F5B301"/>
                </a:solidFill>
                <a:latin typeface="Courier New" pitchFamily="34" charset="0"/>
                <a:ea typeface="Courier New" pitchFamily="34" charset="-122"/>
                <a:cs typeface="Courier New" pitchFamily="34" charset="-120"/>
              </a:rPr>
              <a:t>             "features": feature_cols},</a:t>
            </a:r>
            <a:endParaRPr lang="en-US" sz="1300" dirty="0"/>
          </a:p>
          <a:p>
            <a:pPr algn="l" indent="0" marL="0">
              <a:buNone/>
            </a:pPr>
            <a:r>
              <a:rPr lang="en-US" sz="1300" dirty="0">
                <a:solidFill>
                  <a:srgbClr val="F5B301"/>
                </a:solidFill>
                <a:latin typeface="Courier New" pitchFamily="34" charset="0"/>
                <a:ea typeface="Courier New" pitchFamily="34" charset="-122"/>
                <a:cs typeface="Courier New" pitchFamily="34" charset="-120"/>
              </a:rPr>
              <a:t>            "fare_model.pkl")</a:t>
            </a:r>
            <a:endParaRPr lang="en-US" sz="1300" dirty="0"/>
          </a:p>
        </p:txBody>
      </p:sp>
      <p:sp>
        <p:nvSpPr>
          <p:cNvPr id="6" name="Text 4"/>
          <p:cNvSpPr/>
          <p:nvPr/>
        </p:nvSpPr>
        <p:spPr>
          <a:xfrm>
            <a:off x="7680960" y="1554480"/>
            <a:ext cx="3959352" cy="3657600"/>
          </a:xfrm>
          <a:prstGeom prst="rect">
            <a:avLst/>
          </a:prstGeom>
          <a:noFill/>
          <a:ln/>
        </p:spPr>
        <p:txBody>
          <a:bodyPr wrap="square" lIns="0" tIns="0" rIns="0" bIns="0" rtlCol="0" anchor="t"/>
          <a:lstStyle/>
          <a:p>
            <a:pPr algn="l" marL="177800" indent="-177800">
              <a:spcAft>
                <a:spcPts val="800"/>
              </a:spcAft>
              <a:buSzPct val="100000"/>
              <a:buChar char="•"/>
            </a:pPr>
            <a:r>
              <a:rPr lang="en-US" sz="1500" dirty="0">
                <a:solidFill>
                  <a:srgbClr val="555555"/>
                </a:solidFill>
                <a:latin typeface="Calibri" pitchFamily="34" charset="0"/>
                <a:ea typeface="Calibri" pitchFamily="34" charset="-122"/>
                <a:cs typeface="Calibri" pitchFamily="34" charset="-120"/>
              </a:rPr>
              <a:t>Train a simple baseline and a Random Forest</a:t>
            </a:r>
            <a:endParaRPr lang="en-US" sz="1500" dirty="0"/>
          </a:p>
          <a:p>
            <a:pPr algn="l" marL="177800" indent="-177800">
              <a:spcAft>
                <a:spcPts val="800"/>
              </a:spcAft>
              <a:buSzPct val="100000"/>
              <a:buChar char="•"/>
            </a:pPr>
            <a:r>
              <a:rPr lang="en-US" sz="1500" dirty="0">
                <a:solidFill>
                  <a:srgbClr val="555555"/>
                </a:solidFill>
                <a:latin typeface="Calibri" pitchFamily="34" charset="0"/>
                <a:ea typeface="Calibri" pitchFamily="34" charset="-122"/>
                <a:cs typeface="Calibri" pitchFamily="34" charset="-120"/>
              </a:rPr>
              <a:t>Pick the better model automatically by error</a:t>
            </a:r>
            <a:endParaRPr lang="en-US" sz="1500" dirty="0"/>
          </a:p>
          <a:p>
            <a:pPr algn="l" marL="177800" indent="-177800">
              <a:spcAft>
                <a:spcPts val="800"/>
              </a:spcAft>
              <a:buSzPct val="100000"/>
              <a:buChar char="•"/>
            </a:pPr>
            <a:r>
              <a:rPr lang="en-US" sz="1500" dirty="0">
                <a:solidFill>
                  <a:srgbClr val="555555"/>
                </a:solidFill>
                <a:latin typeface="Calibri" pitchFamily="34" charset="0"/>
                <a:ea typeface="Calibri" pitchFamily="34" charset="-122"/>
                <a:cs typeface="Calibri" pitchFamily="34" charset="-120"/>
              </a:rPr>
              <a:t>Save the model AND its feature list in one file</a:t>
            </a:r>
            <a:endParaRPr lang="en-US" sz="1500" dirty="0"/>
          </a:p>
          <a:p>
            <a:pPr algn="l" marL="177800" indent="-177800">
              <a:spcAft>
                <a:spcPts val="800"/>
              </a:spcAft>
              <a:buSzPct val="100000"/>
              <a:buChar char="•"/>
            </a:pPr>
            <a:r>
              <a:rPr lang="en-US" sz="1500" dirty="0">
                <a:solidFill>
                  <a:srgbClr val="555555"/>
                </a:solidFill>
                <a:latin typeface="Calibri" pitchFamily="34" charset="0"/>
                <a:ea typeface="Calibri" pitchFamily="34" charset="-122"/>
                <a:cs typeface="Calibri" pitchFamily="34" charset="-120"/>
              </a:rPr>
              <a:t>So the app can rebuild the same columns later</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237744" cy="237744"/>
          </a:xfrm>
          <a:prstGeom prst="roundRect">
            <a:avLst>
              <a:gd name="adj" fmla="val 15385"/>
            </a:avLst>
          </a:prstGeom>
          <a:solidFill>
            <a:srgbClr val="F5B301"/>
          </a:solidFill>
          <a:ln/>
        </p:spPr>
      </p:sp>
      <p:sp>
        <p:nvSpPr>
          <p:cNvPr id="3" name="Text 1"/>
          <p:cNvSpPr/>
          <p:nvPr/>
        </p:nvSpPr>
        <p:spPr>
          <a:xfrm>
            <a:off x="932688" y="310896"/>
            <a:ext cx="10707624" cy="640080"/>
          </a:xfrm>
          <a:prstGeom prst="rect">
            <a:avLst/>
          </a:prstGeom>
          <a:noFill/>
          <a:ln/>
        </p:spPr>
        <p:txBody>
          <a:bodyPr wrap="square" lIns="0" tIns="0" rIns="0" bIns="0" rtlCol="0" anchor="ctr"/>
          <a:lstStyle/>
          <a:p>
            <a:pPr algn="l" indent="0" marL="0">
              <a:buNone/>
            </a:pPr>
            <a:r>
              <a:rPr lang="en-US" sz="3000" b="1" dirty="0">
                <a:solidFill>
                  <a:srgbClr val="1A1A1A"/>
                </a:solidFill>
                <a:latin typeface="Calibri" pitchFamily="34" charset="0"/>
                <a:ea typeface="Calibri" pitchFamily="34" charset="-122"/>
                <a:cs typeface="Calibri" pitchFamily="34" charset="-120"/>
              </a:rPr>
              <a:t>Real Problems I Solved</a:t>
            </a:r>
            <a:endParaRPr lang="en-US" sz="3000" dirty="0"/>
          </a:p>
        </p:txBody>
      </p:sp>
      <p:sp>
        <p:nvSpPr>
          <p:cNvPr id="4" name="Shape 2"/>
          <p:cNvSpPr/>
          <p:nvPr/>
        </p:nvSpPr>
        <p:spPr>
          <a:xfrm>
            <a:off x="548640" y="1417320"/>
            <a:ext cx="11091672" cy="1371600"/>
          </a:xfrm>
          <a:prstGeom prst="roundRect">
            <a:avLst>
              <a:gd name="adj" fmla="val 5333"/>
            </a:avLst>
          </a:prstGeom>
          <a:solidFill>
            <a:srgbClr val="F2F2F2"/>
          </a:solidFill>
          <a:ln/>
          <a:effectLst>
            <a:outerShdw sx="100000" sy="100000" kx="0" ky="0" algn="bl" rotWithShape="0" blurRad="88900" dist="38100" dir="5400000">
              <a:srgbClr val="000000">
                <a:alpha val="12000"/>
              </a:srgbClr>
            </a:outerShdw>
          </a:effectLst>
        </p:spPr>
      </p:sp>
      <p:sp>
        <p:nvSpPr>
          <p:cNvPr id="5" name="Shape 3"/>
          <p:cNvSpPr/>
          <p:nvPr/>
        </p:nvSpPr>
        <p:spPr>
          <a:xfrm>
            <a:off x="777240" y="1828800"/>
            <a:ext cx="548640" cy="548640"/>
          </a:xfrm>
          <a:prstGeom prst="ellipse">
            <a:avLst/>
          </a:prstGeom>
          <a:solidFill>
            <a:srgbClr val="F5B301"/>
          </a:solidFill>
          <a:ln/>
        </p:spPr>
      </p:sp>
      <p:sp>
        <p:nvSpPr>
          <p:cNvPr id="6" name="Text 4"/>
          <p:cNvSpPr/>
          <p:nvPr/>
        </p:nvSpPr>
        <p:spPr>
          <a:xfrm>
            <a:off x="777240" y="1828800"/>
            <a:ext cx="548640" cy="548640"/>
          </a:xfrm>
          <a:prstGeom prst="rect">
            <a:avLst/>
          </a:prstGeom>
          <a:noFill/>
          <a:ln/>
        </p:spPr>
        <p:txBody>
          <a:bodyPr wrap="square" lIns="0" tIns="0" rIns="0" bIns="0" rtlCol="0" anchor="ctr"/>
          <a:lstStyle/>
          <a:p>
            <a:pPr algn="ctr" indent="0" marL="0">
              <a:buNone/>
            </a:pPr>
            <a:r>
              <a:rPr lang="en-US" sz="2200" b="1" dirty="0">
                <a:solidFill>
                  <a:srgbClr val="1A1A1A"/>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1554480" y="1581912"/>
            <a:ext cx="9811512" cy="411480"/>
          </a:xfrm>
          <a:prstGeom prst="rect">
            <a:avLst/>
          </a:prstGeom>
          <a:noFill/>
          <a:ln/>
        </p:spPr>
        <p:txBody>
          <a:bodyPr wrap="square" lIns="0" tIns="0" rIns="0" bIns="0"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Out-of-memory crash</a:t>
            </a:r>
            <a:endParaRPr lang="en-US" sz="1700" dirty="0"/>
          </a:p>
        </p:txBody>
      </p:sp>
      <p:sp>
        <p:nvSpPr>
          <p:cNvPr id="8" name="Text 6"/>
          <p:cNvSpPr/>
          <p:nvPr/>
        </p:nvSpPr>
        <p:spPr>
          <a:xfrm>
            <a:off x="1554480" y="1984248"/>
            <a:ext cx="9811512" cy="731520"/>
          </a:xfrm>
          <a:prstGeom prst="rect">
            <a:avLst/>
          </a:prstGeom>
          <a:noFill/>
          <a:ln/>
        </p:spPr>
        <p:txBody>
          <a:bodyPr wrap="square" lIns="0" tIns="0" rIns="0" bIns="0" rtlCol="0" anchor="t"/>
          <a:lstStyle/>
          <a:p>
            <a:pPr indent="0" marL="0">
              <a:buNone/>
            </a:pPr>
            <a:r>
              <a:rPr lang="en-US" sz="1350" dirty="0">
                <a:solidFill>
                  <a:srgbClr val="555555"/>
                </a:solidFill>
                <a:latin typeface="Calibri" pitchFamily="34" charset="0"/>
                <a:ea typeface="Calibri" pitchFamily="34" charset="-122"/>
                <a:cs typeface="Calibri" pitchFamily="34" charset="-120"/>
              </a:rPr>
              <a:t>The Kaggle kernel kept dying while training. I trained on a sample and used a leaner Random Forest (fewer, shallower trees). The model file dropped from 1.28 GB to 7.2 MB — and accuracy slightly improved.</a:t>
            </a:r>
            <a:endParaRPr lang="en-US" sz="1350" dirty="0"/>
          </a:p>
        </p:txBody>
      </p:sp>
      <p:sp>
        <p:nvSpPr>
          <p:cNvPr id="9" name="Shape 7"/>
          <p:cNvSpPr/>
          <p:nvPr/>
        </p:nvSpPr>
        <p:spPr>
          <a:xfrm>
            <a:off x="548640" y="2926080"/>
            <a:ext cx="11091672" cy="1371600"/>
          </a:xfrm>
          <a:prstGeom prst="roundRect">
            <a:avLst>
              <a:gd name="adj" fmla="val 5333"/>
            </a:avLst>
          </a:prstGeom>
          <a:solidFill>
            <a:srgbClr val="F2F2F2"/>
          </a:solidFill>
          <a:ln/>
          <a:effectLst>
            <a:outerShdw sx="100000" sy="100000" kx="0" ky="0" algn="bl" rotWithShape="0" blurRad="88900" dist="38100" dir="5400000">
              <a:srgbClr val="000000">
                <a:alpha val="12000"/>
              </a:srgbClr>
            </a:outerShdw>
          </a:effectLst>
        </p:spPr>
      </p:sp>
      <p:sp>
        <p:nvSpPr>
          <p:cNvPr id="10" name="Shape 8"/>
          <p:cNvSpPr/>
          <p:nvPr/>
        </p:nvSpPr>
        <p:spPr>
          <a:xfrm>
            <a:off x="777240" y="3337560"/>
            <a:ext cx="548640" cy="548640"/>
          </a:xfrm>
          <a:prstGeom prst="ellipse">
            <a:avLst/>
          </a:prstGeom>
          <a:solidFill>
            <a:srgbClr val="F5B301"/>
          </a:solidFill>
          <a:ln/>
        </p:spPr>
      </p:sp>
      <p:sp>
        <p:nvSpPr>
          <p:cNvPr id="11" name="Text 9"/>
          <p:cNvSpPr/>
          <p:nvPr/>
        </p:nvSpPr>
        <p:spPr>
          <a:xfrm>
            <a:off x="777240" y="3337560"/>
            <a:ext cx="548640" cy="548640"/>
          </a:xfrm>
          <a:prstGeom prst="rect">
            <a:avLst/>
          </a:prstGeom>
          <a:noFill/>
          <a:ln/>
        </p:spPr>
        <p:txBody>
          <a:bodyPr wrap="square" lIns="0" tIns="0" rIns="0" bIns="0" rtlCol="0" anchor="ctr"/>
          <a:lstStyle/>
          <a:p>
            <a:pPr algn="ctr" indent="0" marL="0">
              <a:buNone/>
            </a:pPr>
            <a:r>
              <a:rPr lang="en-US" sz="2200" b="1" dirty="0">
                <a:solidFill>
                  <a:srgbClr val="1A1A1A"/>
                </a:solidFill>
                <a:latin typeface="Calibri" pitchFamily="34" charset="0"/>
                <a:ea typeface="Calibri" pitchFamily="34" charset="-122"/>
                <a:cs typeface="Calibri" pitchFamily="34" charset="-120"/>
              </a:rPr>
              <a:t>2</a:t>
            </a:r>
            <a:endParaRPr lang="en-US" sz="2200" dirty="0"/>
          </a:p>
        </p:txBody>
      </p:sp>
      <p:sp>
        <p:nvSpPr>
          <p:cNvPr id="12" name="Text 10"/>
          <p:cNvSpPr/>
          <p:nvPr/>
        </p:nvSpPr>
        <p:spPr>
          <a:xfrm>
            <a:off x="1554480" y="3090672"/>
            <a:ext cx="9811512" cy="411480"/>
          </a:xfrm>
          <a:prstGeom prst="rect">
            <a:avLst/>
          </a:prstGeom>
          <a:noFill/>
          <a:ln/>
        </p:spPr>
        <p:txBody>
          <a:bodyPr wrap="square" lIns="0" tIns="0" rIns="0" bIns="0"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Library version mismatch</a:t>
            </a:r>
            <a:endParaRPr lang="en-US" sz="1700" dirty="0"/>
          </a:p>
        </p:txBody>
      </p:sp>
      <p:sp>
        <p:nvSpPr>
          <p:cNvPr id="13" name="Text 11"/>
          <p:cNvSpPr/>
          <p:nvPr/>
        </p:nvSpPr>
        <p:spPr>
          <a:xfrm>
            <a:off x="1554480" y="3493008"/>
            <a:ext cx="9811512" cy="731520"/>
          </a:xfrm>
          <a:prstGeom prst="rect">
            <a:avLst/>
          </a:prstGeom>
          <a:noFill/>
          <a:ln/>
        </p:spPr>
        <p:txBody>
          <a:bodyPr wrap="square" lIns="0" tIns="0" rIns="0" bIns="0" rtlCol="0" anchor="t"/>
          <a:lstStyle/>
          <a:p>
            <a:pPr indent="0" marL="0">
              <a:buNone/>
            </a:pPr>
            <a:r>
              <a:rPr lang="en-US" sz="1350" dirty="0">
                <a:solidFill>
                  <a:srgbClr val="555555"/>
                </a:solidFill>
                <a:latin typeface="Calibri" pitchFamily="34" charset="0"/>
                <a:ea typeface="Calibri" pitchFamily="34" charset="-122"/>
                <a:cs typeface="Calibri" pitchFamily="34" charset="-120"/>
              </a:rPr>
              <a:t>The saved model would not load on my laptop because the scikit-learn versions differed. I fixed it by matching the same version (1.6.1) used to train it.</a:t>
            </a:r>
            <a:endParaRPr lang="en-US" sz="1350" dirty="0"/>
          </a:p>
        </p:txBody>
      </p:sp>
      <p:sp>
        <p:nvSpPr>
          <p:cNvPr id="14" name="Shape 12"/>
          <p:cNvSpPr/>
          <p:nvPr/>
        </p:nvSpPr>
        <p:spPr>
          <a:xfrm>
            <a:off x="548640" y="4434840"/>
            <a:ext cx="11091672" cy="1371600"/>
          </a:xfrm>
          <a:prstGeom prst="roundRect">
            <a:avLst>
              <a:gd name="adj" fmla="val 5333"/>
            </a:avLst>
          </a:prstGeom>
          <a:solidFill>
            <a:srgbClr val="F2F2F2"/>
          </a:solidFill>
          <a:ln/>
          <a:effectLst>
            <a:outerShdw sx="100000" sy="100000" kx="0" ky="0" algn="bl" rotWithShape="0" blurRad="88900" dist="38100" dir="5400000">
              <a:srgbClr val="000000">
                <a:alpha val="12000"/>
              </a:srgbClr>
            </a:outerShdw>
          </a:effectLst>
        </p:spPr>
      </p:sp>
      <p:sp>
        <p:nvSpPr>
          <p:cNvPr id="15" name="Shape 13"/>
          <p:cNvSpPr/>
          <p:nvPr/>
        </p:nvSpPr>
        <p:spPr>
          <a:xfrm>
            <a:off x="777240" y="4846320"/>
            <a:ext cx="548640" cy="548640"/>
          </a:xfrm>
          <a:prstGeom prst="ellipse">
            <a:avLst/>
          </a:prstGeom>
          <a:solidFill>
            <a:srgbClr val="F5B301"/>
          </a:solidFill>
          <a:ln/>
        </p:spPr>
      </p:sp>
      <p:sp>
        <p:nvSpPr>
          <p:cNvPr id="16" name="Text 14"/>
          <p:cNvSpPr/>
          <p:nvPr/>
        </p:nvSpPr>
        <p:spPr>
          <a:xfrm>
            <a:off x="777240" y="4846320"/>
            <a:ext cx="548640" cy="548640"/>
          </a:xfrm>
          <a:prstGeom prst="rect">
            <a:avLst/>
          </a:prstGeom>
          <a:noFill/>
          <a:ln/>
        </p:spPr>
        <p:txBody>
          <a:bodyPr wrap="square" lIns="0" tIns="0" rIns="0" bIns="0" rtlCol="0" anchor="ctr"/>
          <a:lstStyle/>
          <a:p>
            <a:pPr algn="ctr" indent="0" marL="0">
              <a:buNone/>
            </a:pPr>
            <a:r>
              <a:rPr lang="en-US" sz="2200" b="1" dirty="0">
                <a:solidFill>
                  <a:srgbClr val="1A1A1A"/>
                </a:solidFill>
                <a:latin typeface="Calibri" pitchFamily="34" charset="0"/>
                <a:ea typeface="Calibri" pitchFamily="34" charset="-122"/>
                <a:cs typeface="Calibri" pitchFamily="34" charset="-120"/>
              </a:rPr>
              <a:t>3</a:t>
            </a:r>
            <a:endParaRPr lang="en-US" sz="2200" dirty="0"/>
          </a:p>
        </p:txBody>
      </p:sp>
      <p:sp>
        <p:nvSpPr>
          <p:cNvPr id="17" name="Text 15"/>
          <p:cNvSpPr/>
          <p:nvPr/>
        </p:nvSpPr>
        <p:spPr>
          <a:xfrm>
            <a:off x="1554480" y="4599432"/>
            <a:ext cx="9811512" cy="411480"/>
          </a:xfrm>
          <a:prstGeom prst="rect">
            <a:avLst/>
          </a:prstGeom>
          <a:noFill/>
          <a:ln/>
        </p:spPr>
        <p:txBody>
          <a:bodyPr wrap="square" lIns="0" tIns="0" rIns="0" bIns="0"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Inputs must match the model</a:t>
            </a:r>
            <a:endParaRPr lang="en-US" sz="1700" dirty="0"/>
          </a:p>
        </p:txBody>
      </p:sp>
      <p:sp>
        <p:nvSpPr>
          <p:cNvPr id="18" name="Text 16"/>
          <p:cNvSpPr/>
          <p:nvPr/>
        </p:nvSpPr>
        <p:spPr>
          <a:xfrm>
            <a:off x="1554480" y="5001768"/>
            <a:ext cx="9811512" cy="731520"/>
          </a:xfrm>
          <a:prstGeom prst="rect">
            <a:avLst/>
          </a:prstGeom>
          <a:noFill/>
          <a:ln/>
        </p:spPr>
        <p:txBody>
          <a:bodyPr wrap="square" lIns="0" tIns="0" rIns="0" bIns="0" rtlCol="0" anchor="t"/>
          <a:lstStyle/>
          <a:p>
            <a:pPr indent="0" marL="0">
              <a:buNone/>
            </a:pPr>
            <a:r>
              <a:rPr lang="en-US" sz="1350" dirty="0">
                <a:solidFill>
                  <a:srgbClr val="555555"/>
                </a:solidFill>
                <a:latin typeface="Calibri" pitchFamily="34" charset="0"/>
                <a:ea typeface="Calibri" pitchFamily="34" charset="-122"/>
                <a:cs typeface="Calibri" pitchFamily="34" charset="-120"/>
              </a:rPr>
              <a:t>The app's columns must line up with training exactly. One line fixed it:  reindex(columns=feature_cols, fill_value=0)</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237744" cy="237744"/>
          </a:xfrm>
          <a:prstGeom prst="roundRect">
            <a:avLst>
              <a:gd name="adj" fmla="val 15385"/>
            </a:avLst>
          </a:prstGeom>
          <a:solidFill>
            <a:srgbClr val="F5B301"/>
          </a:solidFill>
          <a:ln/>
        </p:spPr>
      </p:sp>
      <p:sp>
        <p:nvSpPr>
          <p:cNvPr id="3" name="Text 1"/>
          <p:cNvSpPr/>
          <p:nvPr/>
        </p:nvSpPr>
        <p:spPr>
          <a:xfrm>
            <a:off x="932688" y="310896"/>
            <a:ext cx="10707624" cy="640080"/>
          </a:xfrm>
          <a:prstGeom prst="rect">
            <a:avLst/>
          </a:prstGeom>
          <a:noFill/>
          <a:ln/>
        </p:spPr>
        <p:txBody>
          <a:bodyPr wrap="square" lIns="0" tIns="0" rIns="0" bIns="0" rtlCol="0" anchor="ctr"/>
          <a:lstStyle/>
          <a:p>
            <a:pPr algn="l" indent="0" marL="0">
              <a:buNone/>
            </a:pPr>
            <a:r>
              <a:rPr lang="en-US" sz="3000" b="1" dirty="0">
                <a:solidFill>
                  <a:srgbClr val="1A1A1A"/>
                </a:solidFill>
                <a:latin typeface="Calibri" pitchFamily="34" charset="0"/>
                <a:ea typeface="Calibri" pitchFamily="34" charset="-122"/>
                <a:cs typeface="Calibri" pitchFamily="34" charset="-120"/>
              </a:rPr>
              <a:t>Results: Which Model Won?</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943600" cy="914400"/>
        </p:xfrm>
        <a:graphic>
          <a:graphicData uri="http://schemas.openxmlformats.org/drawingml/2006/table">
            <a:tbl>
              <a:tblPr/>
              <a:tblGrid>
                <a:gridCol w="2651760"/>
                <a:gridCol w="1097280"/>
                <a:gridCol w="1097280"/>
                <a:gridCol w="1097280"/>
              </a:tblGrid>
              <a:tr h="59436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Model</a:t>
                      </a:r>
                      <a:endParaRPr lang="en-US" sz="15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A1A"/>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RMSE</a:t>
                      </a:r>
                      <a:endParaRPr lang="en-US" sz="15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A1A"/>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MAE</a:t>
                      </a:r>
                      <a:endParaRPr lang="en-US" sz="15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A1A"/>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R²</a:t>
                      </a:r>
                      <a:endParaRPr lang="en-US" sz="15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A1A"/>
                    </a:solidFill>
                  </a:tcPr>
                </a:tc>
              </a:tr>
              <a:tr h="594360">
                <a:tc>
                  <a:txBody>
                    <a:bodyPr/>
                    <a:lstStyle/>
                    <a:p>
                      <a:pPr algn="ctr" indent="0" marL="0">
                        <a:buNone/>
                      </a:pPr>
                      <a:r>
                        <a:rPr lang="en-US" sz="1500" dirty="0">
                          <a:solidFill>
                            <a:srgbClr val="555555"/>
                          </a:solidFill>
                          <a:latin typeface="Calibri" pitchFamily="34" charset="0"/>
                          <a:ea typeface="Calibri" pitchFamily="34" charset="-122"/>
                          <a:cs typeface="Calibri" pitchFamily="34" charset="-120"/>
                        </a:rPr>
                        <a:t>Linear Regression</a:t>
                      </a:r>
                      <a:endParaRPr lang="en-US" sz="15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555555"/>
                          </a:solidFill>
                          <a:latin typeface="Calibri" pitchFamily="34" charset="0"/>
                          <a:ea typeface="Calibri" pitchFamily="34" charset="-122"/>
                          <a:cs typeface="Calibri" pitchFamily="34" charset="-120"/>
                        </a:rPr>
                        <a:t>5.22</a:t>
                      </a:r>
                      <a:endParaRPr lang="en-US" sz="15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555555"/>
                          </a:solidFill>
                          <a:latin typeface="Calibri" pitchFamily="34" charset="0"/>
                          <a:ea typeface="Calibri" pitchFamily="34" charset="-122"/>
                          <a:cs typeface="Calibri" pitchFamily="34" charset="-120"/>
                        </a:rPr>
                        <a:t>3.26</a:t>
                      </a:r>
                      <a:endParaRPr lang="en-US" sz="15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555555"/>
                          </a:solidFill>
                          <a:latin typeface="Calibri" pitchFamily="34" charset="0"/>
                          <a:ea typeface="Calibri" pitchFamily="34" charset="-122"/>
                          <a:cs typeface="Calibri" pitchFamily="34" charset="-120"/>
                        </a:rPr>
                        <a:t>0.889</a:t>
                      </a:r>
                      <a:endParaRPr lang="en-US" sz="15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594360">
                <a:tc>
                  <a:txBody>
                    <a:bodyPr/>
                    <a:lstStyle/>
                    <a:p>
                      <a:pPr algn="ctr" indent="0" marL="0">
                        <a:buNone/>
                      </a:pPr>
                      <a:r>
                        <a:rPr lang="en-US" sz="1500" b="1" dirty="0">
                          <a:solidFill>
                            <a:srgbClr val="1A1A1A"/>
                          </a:solidFill>
                          <a:latin typeface="Calibri" pitchFamily="34" charset="0"/>
                          <a:ea typeface="Calibri" pitchFamily="34" charset="-122"/>
                          <a:cs typeface="Calibri" pitchFamily="34" charset="-120"/>
                        </a:rPr>
                        <a:t>Random Forest</a:t>
                      </a:r>
                      <a:endParaRPr lang="en-US" sz="15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B301"/>
                    </a:solidFill>
                  </a:tcPr>
                </a:tc>
                <a:tc>
                  <a:txBody>
                    <a:bodyPr/>
                    <a:lstStyle/>
                    <a:p>
                      <a:pPr algn="ctr" indent="0" marL="0">
                        <a:buNone/>
                      </a:pPr>
                      <a:r>
                        <a:rPr lang="en-US" sz="1500" b="1" dirty="0">
                          <a:solidFill>
                            <a:srgbClr val="1A1A1A"/>
                          </a:solidFill>
                          <a:latin typeface="Calibri" pitchFamily="34" charset="0"/>
                          <a:ea typeface="Calibri" pitchFamily="34" charset="-122"/>
                          <a:cs typeface="Calibri" pitchFamily="34" charset="-120"/>
                        </a:rPr>
                        <a:t>4.49</a:t>
                      </a:r>
                      <a:endParaRPr lang="en-US" sz="15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B301"/>
                    </a:solidFill>
                  </a:tcPr>
                </a:tc>
                <a:tc>
                  <a:txBody>
                    <a:bodyPr/>
                    <a:lstStyle/>
                    <a:p>
                      <a:pPr algn="ctr" indent="0" marL="0">
                        <a:buNone/>
                      </a:pPr>
                      <a:r>
                        <a:rPr lang="en-US" sz="1500" b="1" dirty="0">
                          <a:solidFill>
                            <a:srgbClr val="1A1A1A"/>
                          </a:solidFill>
                          <a:latin typeface="Calibri" pitchFamily="34" charset="0"/>
                          <a:ea typeface="Calibri" pitchFamily="34" charset="-122"/>
                          <a:cs typeface="Calibri" pitchFamily="34" charset="-120"/>
                        </a:rPr>
                        <a:t>2.63</a:t>
                      </a:r>
                      <a:endParaRPr lang="en-US" sz="15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B301"/>
                    </a:solidFill>
                  </a:tcPr>
                </a:tc>
                <a:tc>
                  <a:txBody>
                    <a:bodyPr/>
                    <a:lstStyle/>
                    <a:p>
                      <a:pPr algn="ctr" indent="0" marL="0">
                        <a:buNone/>
                      </a:pPr>
                      <a:r>
                        <a:rPr lang="en-US" sz="1500" b="1" dirty="0">
                          <a:solidFill>
                            <a:srgbClr val="1A1A1A"/>
                          </a:solidFill>
                          <a:latin typeface="Calibri" pitchFamily="34" charset="0"/>
                          <a:ea typeface="Calibri" pitchFamily="34" charset="-122"/>
                          <a:cs typeface="Calibri" pitchFamily="34" charset="-120"/>
                        </a:rPr>
                        <a:t>0.918</a:t>
                      </a:r>
                      <a:endParaRPr lang="en-US" sz="15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B301"/>
                    </a:solidFill>
                  </a:tcPr>
                </a:tc>
              </a:tr>
            </a:tbl>
          </a:graphicData>
        </a:graphic>
      </p:graphicFrame>
      <p:sp>
        <p:nvSpPr>
          <p:cNvPr id="5" name="Text 2"/>
          <p:cNvSpPr/>
          <p:nvPr/>
        </p:nvSpPr>
        <p:spPr>
          <a:xfrm>
            <a:off x="548640" y="3383280"/>
            <a:ext cx="5943600" cy="640080"/>
          </a:xfrm>
          <a:prstGeom prst="rect">
            <a:avLst/>
          </a:prstGeom>
          <a:noFill/>
          <a:ln/>
        </p:spPr>
        <p:txBody>
          <a:bodyPr wrap="square" lIns="0" tIns="0" rIns="0" bIns="0" rtlCol="0" anchor="t"/>
          <a:lstStyle/>
          <a:p>
            <a:pPr indent="0" marL="0">
              <a:buNone/>
            </a:pPr>
            <a:r>
              <a:rPr lang="en-US" sz="1400" dirty="0">
                <a:solidFill>
                  <a:srgbClr val="555555"/>
                </a:solidFill>
                <a:latin typeface="Calibri" pitchFamily="34" charset="0"/>
                <a:ea typeface="Calibri" pitchFamily="34" charset="-122"/>
                <a:cs typeface="Calibri" pitchFamily="34" charset="-120"/>
              </a:rPr>
              <a:t>Lower RMSE and MAE are better; higher R² is better. Random Forest wins on all three.</a:t>
            </a:r>
            <a:endParaRPr lang="en-US" sz="1400" dirty="0"/>
          </a:p>
        </p:txBody>
      </p:sp>
      <p:sp>
        <p:nvSpPr>
          <p:cNvPr id="6" name="Shape 3"/>
          <p:cNvSpPr/>
          <p:nvPr/>
        </p:nvSpPr>
        <p:spPr>
          <a:xfrm>
            <a:off x="548640" y="4160520"/>
            <a:ext cx="5943600" cy="868680"/>
          </a:xfrm>
          <a:prstGeom prst="roundRect">
            <a:avLst>
              <a:gd name="adj" fmla="val 8421"/>
            </a:avLst>
          </a:prstGeom>
          <a:solidFill>
            <a:srgbClr val="F2F2F2"/>
          </a:solidFill>
          <a:ln/>
          <a:effectLst>
            <a:outerShdw sx="100000" sy="100000" kx="0" ky="0" algn="bl" rotWithShape="0" blurRad="88900" dist="38100" dir="5400000">
              <a:srgbClr val="000000">
                <a:alpha val="12000"/>
              </a:srgbClr>
            </a:outerShdw>
          </a:effectLst>
        </p:spPr>
      </p:sp>
      <p:sp>
        <p:nvSpPr>
          <p:cNvPr id="7" name="Text 4"/>
          <p:cNvSpPr/>
          <p:nvPr/>
        </p:nvSpPr>
        <p:spPr>
          <a:xfrm>
            <a:off x="777240" y="4160520"/>
            <a:ext cx="1005840" cy="868680"/>
          </a:xfrm>
          <a:prstGeom prst="rect">
            <a:avLst/>
          </a:prstGeom>
          <a:noFill/>
          <a:ln/>
        </p:spPr>
        <p:txBody>
          <a:bodyPr wrap="square" lIns="0" tIns="0" rIns="0" bIns="0" rtlCol="0" anchor="ctr"/>
          <a:lstStyle/>
          <a:p>
            <a:pPr indent="0" marL="0">
              <a:buNone/>
            </a:pPr>
            <a:r>
              <a:rPr lang="en-US" sz="1600" b="1" dirty="0">
                <a:solidFill>
                  <a:srgbClr val="B07A00"/>
                </a:solidFill>
                <a:latin typeface="Calibri" pitchFamily="34" charset="0"/>
                <a:ea typeface="Calibri" pitchFamily="34" charset="-122"/>
                <a:cs typeface="Calibri" pitchFamily="34" charset="-120"/>
              </a:rPr>
              <a:t>R²</a:t>
            </a:r>
            <a:endParaRPr lang="en-US" sz="1600" dirty="0"/>
          </a:p>
        </p:txBody>
      </p:sp>
      <p:sp>
        <p:nvSpPr>
          <p:cNvPr id="8" name="Text 5"/>
          <p:cNvSpPr/>
          <p:nvPr/>
        </p:nvSpPr>
        <p:spPr>
          <a:xfrm>
            <a:off x="1737360" y="4160520"/>
            <a:ext cx="1828800" cy="868680"/>
          </a:xfrm>
          <a:prstGeom prst="rect">
            <a:avLst/>
          </a:prstGeom>
          <a:noFill/>
          <a:ln/>
        </p:spPr>
        <p:txBody>
          <a:bodyPr wrap="square" lIns="0" tIns="0" rIns="0" bIns="0" rtlCol="0" anchor="ctr"/>
          <a:lstStyle/>
          <a:p>
            <a:pPr indent="0" marL="0">
              <a:buNone/>
            </a:pPr>
            <a:r>
              <a:rPr lang="en-US" sz="2800" b="1" dirty="0">
                <a:solidFill>
                  <a:srgbClr val="1A1A1A"/>
                </a:solidFill>
                <a:latin typeface="Calibri" pitchFamily="34" charset="0"/>
                <a:ea typeface="Calibri" pitchFamily="34" charset="-122"/>
                <a:cs typeface="Calibri" pitchFamily="34" charset="-120"/>
              </a:rPr>
              <a:t>0.918</a:t>
            </a:r>
            <a:endParaRPr lang="en-US" sz="2800" dirty="0"/>
          </a:p>
        </p:txBody>
      </p:sp>
      <p:sp>
        <p:nvSpPr>
          <p:cNvPr id="9" name="Text 6"/>
          <p:cNvSpPr/>
          <p:nvPr/>
        </p:nvSpPr>
        <p:spPr>
          <a:xfrm>
            <a:off x="3657600" y="4160520"/>
            <a:ext cx="2743200" cy="868680"/>
          </a:xfrm>
          <a:prstGeom prst="rect">
            <a:avLst/>
          </a:prstGeom>
          <a:noFill/>
          <a:ln/>
        </p:spPr>
        <p:txBody>
          <a:bodyPr wrap="square" lIns="0" tIns="0" rIns="0" bIns="0" rtlCol="0" anchor="ctr"/>
          <a:lstStyle/>
          <a:p>
            <a:pPr indent="0" marL="0">
              <a:buNone/>
            </a:pPr>
            <a:r>
              <a:rPr lang="en-US" sz="1300" dirty="0">
                <a:solidFill>
                  <a:srgbClr val="555555"/>
                </a:solidFill>
                <a:latin typeface="Calibri" pitchFamily="34" charset="0"/>
                <a:ea typeface="Calibri" pitchFamily="34" charset="-122"/>
                <a:cs typeface="Calibri" pitchFamily="34" charset="-120"/>
              </a:rPr>
              <a:t>of fare variation explained</a:t>
            </a:r>
            <a:endParaRPr lang="en-US" sz="1300" dirty="0"/>
          </a:p>
        </p:txBody>
      </p:sp>
      <p:sp>
        <p:nvSpPr>
          <p:cNvPr id="10" name="Shape 7"/>
          <p:cNvSpPr/>
          <p:nvPr/>
        </p:nvSpPr>
        <p:spPr>
          <a:xfrm>
            <a:off x="548640" y="5166360"/>
            <a:ext cx="5943600" cy="868680"/>
          </a:xfrm>
          <a:prstGeom prst="roundRect">
            <a:avLst>
              <a:gd name="adj" fmla="val 8421"/>
            </a:avLst>
          </a:prstGeom>
          <a:solidFill>
            <a:srgbClr val="F2F2F2"/>
          </a:solidFill>
          <a:ln/>
          <a:effectLst>
            <a:outerShdw sx="100000" sy="100000" kx="0" ky="0" algn="bl" rotWithShape="0" blurRad="88900" dist="38100" dir="5400000">
              <a:srgbClr val="000000">
                <a:alpha val="12000"/>
              </a:srgbClr>
            </a:outerShdw>
          </a:effectLst>
        </p:spPr>
      </p:sp>
      <p:sp>
        <p:nvSpPr>
          <p:cNvPr id="11" name="Text 8"/>
          <p:cNvSpPr/>
          <p:nvPr/>
        </p:nvSpPr>
        <p:spPr>
          <a:xfrm>
            <a:off x="777240" y="5166360"/>
            <a:ext cx="1005840" cy="868680"/>
          </a:xfrm>
          <a:prstGeom prst="rect">
            <a:avLst/>
          </a:prstGeom>
          <a:noFill/>
          <a:ln/>
        </p:spPr>
        <p:txBody>
          <a:bodyPr wrap="square" lIns="0" tIns="0" rIns="0" bIns="0" rtlCol="0" anchor="ctr"/>
          <a:lstStyle/>
          <a:p>
            <a:pPr indent="0" marL="0">
              <a:buNone/>
            </a:pPr>
            <a:r>
              <a:rPr lang="en-US" sz="1600" b="1" dirty="0">
                <a:solidFill>
                  <a:srgbClr val="B07A00"/>
                </a:solidFill>
                <a:latin typeface="Calibri" pitchFamily="34" charset="0"/>
                <a:ea typeface="Calibri" pitchFamily="34" charset="-122"/>
                <a:cs typeface="Calibri" pitchFamily="34" charset="-120"/>
              </a:rPr>
              <a:t>MAE</a:t>
            </a:r>
            <a:endParaRPr lang="en-US" sz="1600" dirty="0"/>
          </a:p>
        </p:txBody>
      </p:sp>
      <p:sp>
        <p:nvSpPr>
          <p:cNvPr id="12" name="Text 9"/>
          <p:cNvSpPr/>
          <p:nvPr/>
        </p:nvSpPr>
        <p:spPr>
          <a:xfrm>
            <a:off x="1737360" y="5166360"/>
            <a:ext cx="1828800" cy="868680"/>
          </a:xfrm>
          <a:prstGeom prst="rect">
            <a:avLst/>
          </a:prstGeom>
          <a:noFill/>
          <a:ln/>
        </p:spPr>
        <p:txBody>
          <a:bodyPr wrap="square" lIns="0" tIns="0" rIns="0" bIns="0" rtlCol="0" anchor="ctr"/>
          <a:lstStyle/>
          <a:p>
            <a:pPr indent="0" marL="0">
              <a:buNone/>
            </a:pPr>
            <a:r>
              <a:rPr lang="en-US" sz="2800" b="1" dirty="0">
                <a:solidFill>
                  <a:srgbClr val="1A1A1A"/>
                </a:solidFill>
                <a:latin typeface="Calibri" pitchFamily="34" charset="0"/>
                <a:ea typeface="Calibri" pitchFamily="34" charset="-122"/>
                <a:cs typeface="Calibri" pitchFamily="34" charset="-120"/>
              </a:rPr>
              <a:t>$2.63</a:t>
            </a:r>
            <a:endParaRPr lang="en-US" sz="2800" dirty="0"/>
          </a:p>
        </p:txBody>
      </p:sp>
      <p:sp>
        <p:nvSpPr>
          <p:cNvPr id="13" name="Text 10"/>
          <p:cNvSpPr/>
          <p:nvPr/>
        </p:nvSpPr>
        <p:spPr>
          <a:xfrm>
            <a:off x="3657600" y="5166360"/>
            <a:ext cx="2743200" cy="868680"/>
          </a:xfrm>
          <a:prstGeom prst="rect">
            <a:avLst/>
          </a:prstGeom>
          <a:noFill/>
          <a:ln/>
        </p:spPr>
        <p:txBody>
          <a:bodyPr wrap="square" lIns="0" tIns="0" rIns="0" bIns="0" rtlCol="0" anchor="ctr"/>
          <a:lstStyle/>
          <a:p>
            <a:pPr indent="0" marL="0">
              <a:buNone/>
            </a:pPr>
            <a:r>
              <a:rPr lang="en-US" sz="1300" dirty="0">
                <a:solidFill>
                  <a:srgbClr val="555555"/>
                </a:solidFill>
                <a:latin typeface="Calibri" pitchFamily="34" charset="0"/>
                <a:ea typeface="Calibri" pitchFamily="34" charset="-122"/>
                <a:cs typeface="Calibri" pitchFamily="34" charset="-120"/>
              </a:rPr>
              <a:t>average error per trip</a:t>
            </a:r>
            <a:endParaRPr lang="en-US" sz="1300" dirty="0"/>
          </a:p>
        </p:txBody>
      </p:sp>
      <p:sp>
        <p:nvSpPr>
          <p:cNvPr id="14" name="Shape 11"/>
          <p:cNvSpPr/>
          <p:nvPr/>
        </p:nvSpPr>
        <p:spPr>
          <a:xfrm>
            <a:off x="6766560" y="1463040"/>
            <a:ext cx="4873752" cy="4572000"/>
          </a:xfrm>
          <a:prstGeom prst="roundRect">
            <a:avLst>
              <a:gd name="adj" fmla="val 1600"/>
            </a:avLst>
          </a:prstGeom>
          <a:solidFill>
            <a:srgbClr val="FFFFFF"/>
          </a:solidFill>
          <a:ln/>
          <a:effectLst>
            <a:outerShdw sx="100000" sy="100000" kx="0" ky="0" algn="bl" rotWithShape="0" blurRad="88900" dist="38100" dir="5400000">
              <a:srgbClr val="000000">
                <a:alpha val="12000"/>
              </a:srgbClr>
            </a:outerShdw>
          </a:effectLst>
        </p:spPr>
      </p:sp>
      <p:pic>
        <p:nvPicPr>
          <p:cNvPr id="15" name="Image 0" descr="fig6_model_comparison.png">    </p:cNvPr>
          <p:cNvPicPr>
            <a:picLocks noChangeAspect="1"/>
          </p:cNvPicPr>
          <p:nvPr/>
        </p:nvPicPr>
        <p:blipFill>
          <a:blip r:embed="rId1"/>
          <a:stretch>
            <a:fillRect/>
          </a:stretch>
        </p:blipFill>
        <p:spPr>
          <a:xfrm>
            <a:off x="6903720" y="2215896"/>
            <a:ext cx="4599432" cy="306628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237744" cy="237744"/>
          </a:xfrm>
          <a:prstGeom prst="roundRect">
            <a:avLst>
              <a:gd name="adj" fmla="val 15385"/>
            </a:avLst>
          </a:prstGeom>
          <a:solidFill>
            <a:srgbClr val="F5B301"/>
          </a:solidFill>
          <a:ln/>
        </p:spPr>
      </p:sp>
      <p:sp>
        <p:nvSpPr>
          <p:cNvPr id="3" name="Text 1"/>
          <p:cNvSpPr/>
          <p:nvPr/>
        </p:nvSpPr>
        <p:spPr>
          <a:xfrm>
            <a:off x="932688" y="310896"/>
            <a:ext cx="10707624" cy="640080"/>
          </a:xfrm>
          <a:prstGeom prst="rect">
            <a:avLst/>
          </a:prstGeom>
          <a:noFill/>
          <a:ln/>
        </p:spPr>
        <p:txBody>
          <a:bodyPr wrap="square" lIns="0" tIns="0" rIns="0" bIns="0" rtlCol="0" anchor="ctr"/>
          <a:lstStyle/>
          <a:p>
            <a:pPr algn="l" indent="0" marL="0">
              <a:buNone/>
            </a:pPr>
            <a:r>
              <a:rPr lang="en-US" sz="3000" b="1" dirty="0">
                <a:solidFill>
                  <a:srgbClr val="1A1A1A"/>
                </a:solidFill>
                <a:latin typeface="Calibri" pitchFamily="34" charset="0"/>
                <a:ea typeface="Calibri" pitchFamily="34" charset="-122"/>
                <a:cs typeface="Calibri" pitchFamily="34" charset="-120"/>
              </a:rPr>
              <a:t>Does It Actually Work?</a:t>
            </a:r>
            <a:endParaRPr lang="en-US" sz="3000" dirty="0"/>
          </a:p>
        </p:txBody>
      </p:sp>
      <p:sp>
        <p:nvSpPr>
          <p:cNvPr id="4" name="Text 2"/>
          <p:cNvSpPr/>
          <p:nvPr/>
        </p:nvSpPr>
        <p:spPr>
          <a:xfrm>
            <a:off x="548640" y="1371600"/>
            <a:ext cx="4754880" cy="457200"/>
          </a:xfrm>
          <a:prstGeom prst="rect">
            <a:avLst/>
          </a:prstGeom>
          <a:noFill/>
          <a:ln/>
        </p:spPr>
        <p:txBody>
          <a:bodyPr wrap="square" lIns="0" tIns="0" rIns="0" bIns="0" rtlCol="0" anchor="ctr"/>
          <a:lstStyle/>
          <a:p>
            <a:pPr indent="0" marL="0">
              <a:buNone/>
            </a:pPr>
            <a:r>
              <a:rPr lang="en-US" sz="1800" b="1" dirty="0">
                <a:solidFill>
                  <a:srgbClr val="B07A00"/>
                </a:solidFill>
                <a:latin typeface="Calibri" pitchFamily="34" charset="0"/>
                <a:ea typeface="Calibri" pitchFamily="34" charset="-122"/>
                <a:cs typeface="Calibri" pitchFamily="34" charset="-120"/>
              </a:rPr>
              <a:t>Predictions hug the line</a:t>
            </a:r>
            <a:endParaRPr lang="en-US" sz="1800" dirty="0"/>
          </a:p>
        </p:txBody>
      </p:sp>
      <p:sp>
        <p:nvSpPr>
          <p:cNvPr id="5" name="Text 3"/>
          <p:cNvSpPr/>
          <p:nvPr/>
        </p:nvSpPr>
        <p:spPr>
          <a:xfrm>
            <a:off x="548640" y="1874520"/>
            <a:ext cx="4846320" cy="3657600"/>
          </a:xfrm>
          <a:prstGeom prst="rect">
            <a:avLst/>
          </a:prstGeom>
          <a:noFill/>
          <a:ln/>
        </p:spPr>
        <p:txBody>
          <a:bodyPr wrap="square" lIns="0" tIns="0" rIns="0" bIns="0" rtlCol="0" anchor="t"/>
          <a:lstStyle/>
          <a:p>
            <a:pPr algn="l" marL="177800" indent="-177800">
              <a:spcAft>
                <a:spcPts val="800"/>
              </a:spcAft>
              <a:buSzPct val="100000"/>
              <a:buChar char="•"/>
            </a:pPr>
            <a:r>
              <a:rPr lang="en-US" sz="1600" dirty="0">
                <a:solidFill>
                  <a:srgbClr val="555555"/>
                </a:solidFill>
                <a:latin typeface="Calibri" pitchFamily="34" charset="0"/>
                <a:ea typeface="Calibri" pitchFamily="34" charset="-122"/>
                <a:cs typeface="Calibri" pitchFamily="34" charset="-120"/>
              </a:rPr>
              <a:t>Each dot is a test trip: actual fare vs predicted fare</a:t>
            </a:r>
            <a:endParaRPr lang="en-US" sz="1600" dirty="0"/>
          </a:p>
          <a:p>
            <a:pPr algn="l" marL="177800" indent="-177800">
              <a:spcAft>
                <a:spcPts val="800"/>
              </a:spcAft>
              <a:buSzPct val="100000"/>
              <a:buChar char="•"/>
            </a:pPr>
            <a:r>
              <a:rPr lang="en-US" sz="1600" dirty="0">
                <a:solidFill>
                  <a:srgbClr val="555555"/>
                </a:solidFill>
                <a:latin typeface="Calibri" pitchFamily="34" charset="0"/>
                <a:ea typeface="Calibri" pitchFamily="34" charset="-122"/>
                <a:cs typeface="Calibri" pitchFamily="34" charset="-120"/>
              </a:rPr>
              <a:t>Points cluster tightly along the red 'perfect prediction' line</a:t>
            </a:r>
            <a:endParaRPr lang="en-US" sz="1600" dirty="0"/>
          </a:p>
          <a:p>
            <a:pPr algn="l" marL="177800" indent="-177800">
              <a:spcAft>
                <a:spcPts val="800"/>
              </a:spcAft>
              <a:buSzPct val="100000"/>
              <a:buChar char="•"/>
            </a:pPr>
            <a:r>
              <a:rPr lang="en-US" sz="1600" dirty="0">
                <a:solidFill>
                  <a:srgbClr val="555555"/>
                </a:solidFill>
                <a:latin typeface="Calibri" pitchFamily="34" charset="0"/>
                <a:ea typeface="Calibri" pitchFamily="34" charset="-122"/>
                <a:cs typeface="Calibri" pitchFamily="34" charset="-120"/>
              </a:rPr>
              <a:t>Accuracy is strong for normal fares; a few very long trips are harder</a:t>
            </a:r>
            <a:endParaRPr lang="en-US" sz="1600" dirty="0"/>
          </a:p>
        </p:txBody>
      </p:sp>
      <p:sp>
        <p:nvSpPr>
          <p:cNvPr id="6" name="Shape 4"/>
          <p:cNvSpPr/>
          <p:nvPr/>
        </p:nvSpPr>
        <p:spPr>
          <a:xfrm>
            <a:off x="5669280" y="1325880"/>
            <a:ext cx="5971032" cy="4480560"/>
          </a:xfrm>
          <a:prstGeom prst="roundRect">
            <a:avLst>
              <a:gd name="adj" fmla="val 1633"/>
            </a:avLst>
          </a:prstGeom>
          <a:solidFill>
            <a:srgbClr val="FFFFFF"/>
          </a:solidFill>
          <a:ln/>
          <a:effectLst>
            <a:outerShdw sx="100000" sy="100000" kx="0" ky="0" algn="bl" rotWithShape="0" blurRad="88900" dist="38100" dir="5400000">
              <a:srgbClr val="000000">
                <a:alpha val="12000"/>
              </a:srgbClr>
            </a:outerShdw>
          </a:effectLst>
        </p:spPr>
      </p:sp>
      <p:pic>
        <p:nvPicPr>
          <p:cNvPr id="7" name="Image 0" descr="fig7_actual_vs_predicted.png">    </p:cNvPr>
          <p:cNvPicPr>
            <a:picLocks noChangeAspect="1"/>
          </p:cNvPicPr>
          <p:nvPr/>
        </p:nvPicPr>
        <p:blipFill>
          <a:blip r:embed="rId1"/>
          <a:stretch>
            <a:fillRect/>
          </a:stretch>
        </p:blipFill>
        <p:spPr>
          <a:xfrm>
            <a:off x="6551676" y="1463040"/>
            <a:ext cx="4206240" cy="4206240"/>
          </a:xfrm>
          <a:prstGeom prst="rect">
            <a:avLst/>
          </a:prstGeom>
        </p:spPr>
      </p:pic>
      <p:sp>
        <p:nvSpPr>
          <p:cNvPr id="8" name="Text 5"/>
          <p:cNvSpPr/>
          <p:nvPr/>
        </p:nvSpPr>
        <p:spPr>
          <a:xfrm>
            <a:off x="5806440" y="5897880"/>
            <a:ext cx="5833872" cy="365760"/>
          </a:xfrm>
          <a:prstGeom prst="rect">
            <a:avLst/>
          </a:prstGeom>
          <a:noFill/>
          <a:ln/>
        </p:spPr>
        <p:txBody>
          <a:bodyPr wrap="square" lIns="0" tIns="0" rIns="0" bIns="0" rtlCol="0" anchor="ctr"/>
          <a:lstStyle/>
          <a:p>
            <a:pPr algn="l" indent="0" marL="0">
              <a:buNone/>
            </a:pPr>
            <a:r>
              <a:rPr lang="en-US" sz="1100" i="1" dirty="0">
                <a:solidFill>
                  <a:srgbClr val="8A8A8A"/>
                </a:solidFill>
                <a:latin typeface="Calibri" pitchFamily="34" charset="0"/>
                <a:ea typeface="Calibri" pitchFamily="34" charset="-122"/>
                <a:cs typeface="Calibri" pitchFamily="34" charset="-120"/>
              </a:rPr>
              <a:t>Figure 7 — Actual vs predicted fare (Random Forest)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237744" cy="237744"/>
          </a:xfrm>
          <a:prstGeom prst="roundRect">
            <a:avLst>
              <a:gd name="adj" fmla="val 15385"/>
            </a:avLst>
          </a:prstGeom>
          <a:solidFill>
            <a:srgbClr val="F5B301"/>
          </a:solidFill>
          <a:ln/>
        </p:spPr>
      </p:sp>
      <p:sp>
        <p:nvSpPr>
          <p:cNvPr id="3" name="Text 1"/>
          <p:cNvSpPr/>
          <p:nvPr/>
        </p:nvSpPr>
        <p:spPr>
          <a:xfrm>
            <a:off x="932688" y="310896"/>
            <a:ext cx="10707624" cy="640080"/>
          </a:xfrm>
          <a:prstGeom prst="rect">
            <a:avLst/>
          </a:prstGeom>
          <a:noFill/>
          <a:ln/>
        </p:spPr>
        <p:txBody>
          <a:bodyPr wrap="square" lIns="0" tIns="0" rIns="0" bIns="0" rtlCol="0" anchor="ctr"/>
          <a:lstStyle/>
          <a:p>
            <a:pPr algn="l" indent="0" marL="0">
              <a:buNone/>
            </a:pPr>
            <a:r>
              <a:rPr lang="en-US" sz="3000" b="1" dirty="0">
                <a:solidFill>
                  <a:srgbClr val="1A1A1A"/>
                </a:solidFill>
                <a:latin typeface="Calibri" pitchFamily="34" charset="0"/>
                <a:ea typeface="Calibri" pitchFamily="34" charset="-122"/>
                <a:cs typeface="Calibri" pitchFamily="34" charset="-120"/>
              </a:rPr>
              <a:t>What Drives the Prediction?</a:t>
            </a:r>
            <a:endParaRPr lang="en-US" sz="3000" dirty="0"/>
          </a:p>
        </p:txBody>
      </p:sp>
      <p:sp>
        <p:nvSpPr>
          <p:cNvPr id="4" name="Text 2"/>
          <p:cNvSpPr/>
          <p:nvPr/>
        </p:nvSpPr>
        <p:spPr>
          <a:xfrm>
            <a:off x="548640" y="1371600"/>
            <a:ext cx="4754880" cy="457200"/>
          </a:xfrm>
          <a:prstGeom prst="rect">
            <a:avLst/>
          </a:prstGeom>
          <a:noFill/>
          <a:ln/>
        </p:spPr>
        <p:txBody>
          <a:bodyPr wrap="square" lIns="0" tIns="0" rIns="0" bIns="0" rtlCol="0" anchor="ctr"/>
          <a:lstStyle/>
          <a:p>
            <a:pPr indent="0" marL="0">
              <a:buNone/>
            </a:pPr>
            <a:r>
              <a:rPr lang="en-US" sz="1800" b="1" dirty="0">
                <a:solidFill>
                  <a:srgbClr val="B07A00"/>
                </a:solidFill>
                <a:latin typeface="Calibri" pitchFamily="34" charset="0"/>
                <a:ea typeface="Calibri" pitchFamily="34" charset="-122"/>
                <a:cs typeface="Calibri" pitchFamily="34" charset="-120"/>
              </a:rPr>
              <a:t>One feature dominates</a:t>
            </a:r>
            <a:endParaRPr lang="en-US" sz="1800" dirty="0"/>
          </a:p>
        </p:txBody>
      </p:sp>
      <p:sp>
        <p:nvSpPr>
          <p:cNvPr id="5" name="Text 3"/>
          <p:cNvSpPr/>
          <p:nvPr/>
        </p:nvSpPr>
        <p:spPr>
          <a:xfrm>
            <a:off x="548640" y="1874520"/>
            <a:ext cx="4846320" cy="3657600"/>
          </a:xfrm>
          <a:prstGeom prst="rect">
            <a:avLst/>
          </a:prstGeom>
          <a:noFill/>
          <a:ln/>
        </p:spPr>
        <p:txBody>
          <a:bodyPr wrap="square" lIns="0" tIns="0" rIns="0" bIns="0" rtlCol="0" anchor="t"/>
          <a:lstStyle/>
          <a:p>
            <a:pPr algn="l" marL="177800" indent="-177800">
              <a:spcAft>
                <a:spcPts val="800"/>
              </a:spcAft>
              <a:buSzPct val="100000"/>
              <a:buChar char="•"/>
            </a:pPr>
            <a:r>
              <a:rPr lang="en-US" sz="1600" dirty="0">
                <a:solidFill>
                  <a:srgbClr val="555555"/>
                </a:solidFill>
                <a:latin typeface="Calibri" pitchFamily="34" charset="0"/>
                <a:ea typeface="Calibri" pitchFamily="34" charset="-122"/>
                <a:cs typeface="Calibri" pitchFamily="34" charset="-120"/>
              </a:rPr>
              <a:t>trip_distance accounts for about 95% of the model's decisions</a:t>
            </a:r>
            <a:endParaRPr lang="en-US" sz="1600" dirty="0"/>
          </a:p>
          <a:p>
            <a:pPr algn="l" marL="177800" indent="-177800">
              <a:spcAft>
                <a:spcPts val="800"/>
              </a:spcAft>
              <a:buSzPct val="100000"/>
              <a:buChar char="•"/>
            </a:pPr>
            <a:r>
              <a:rPr lang="en-US" sz="1600" dirty="0">
                <a:solidFill>
                  <a:srgbClr val="555555"/>
                </a:solidFill>
                <a:latin typeface="Calibri" pitchFamily="34" charset="0"/>
                <a:ea typeface="Calibri" pitchFamily="34" charset="-122"/>
                <a:cs typeface="Calibri" pitchFamily="34" charset="-120"/>
              </a:rPr>
              <a:t>Rate type and hour add small adjustments</a:t>
            </a:r>
            <a:endParaRPr lang="en-US" sz="1600" dirty="0"/>
          </a:p>
          <a:p>
            <a:pPr algn="l" marL="177800" indent="-177800">
              <a:spcAft>
                <a:spcPts val="800"/>
              </a:spcAft>
              <a:buSzPct val="100000"/>
              <a:buChar char="•"/>
            </a:pPr>
            <a:r>
              <a:rPr lang="en-US" sz="1600" dirty="0">
                <a:solidFill>
                  <a:srgbClr val="555555"/>
                </a:solidFill>
                <a:latin typeface="Calibri" pitchFamily="34" charset="0"/>
                <a:ea typeface="Calibri" pitchFamily="34" charset="-122"/>
                <a:cs typeface="Calibri" pitchFamily="34" charset="-120"/>
              </a:rPr>
              <a:t>Passenger count and month barely matter</a:t>
            </a:r>
            <a:endParaRPr lang="en-US" sz="1600" dirty="0"/>
          </a:p>
          <a:p>
            <a:pPr algn="l" marL="177800" indent="-177800">
              <a:spcAft>
                <a:spcPts val="800"/>
              </a:spcAft>
              <a:buSzPct val="100000"/>
              <a:buChar char="•"/>
            </a:pPr>
            <a:r>
              <a:rPr lang="en-US" sz="1600" dirty="0">
                <a:solidFill>
                  <a:srgbClr val="555555"/>
                </a:solidFill>
                <a:latin typeface="Calibri" pitchFamily="34" charset="0"/>
                <a:ea typeface="Calibri" pitchFamily="34" charset="-122"/>
                <a:cs typeface="Calibri" pitchFamily="34" charset="-120"/>
              </a:rPr>
              <a:t>Honest takeaway: this is essentially a smart distance-based estimator</a:t>
            </a:r>
            <a:endParaRPr lang="en-US" sz="1600" dirty="0"/>
          </a:p>
        </p:txBody>
      </p:sp>
      <p:sp>
        <p:nvSpPr>
          <p:cNvPr id="6" name="Shape 4"/>
          <p:cNvSpPr/>
          <p:nvPr/>
        </p:nvSpPr>
        <p:spPr>
          <a:xfrm>
            <a:off x="5669280" y="1325880"/>
            <a:ext cx="5971032" cy="4480560"/>
          </a:xfrm>
          <a:prstGeom prst="roundRect">
            <a:avLst>
              <a:gd name="adj" fmla="val 1633"/>
            </a:avLst>
          </a:prstGeom>
          <a:solidFill>
            <a:srgbClr val="FFFFFF"/>
          </a:solidFill>
          <a:ln/>
          <a:effectLst>
            <a:outerShdw sx="100000" sy="100000" kx="0" ky="0" algn="bl" rotWithShape="0" blurRad="88900" dist="38100" dir="5400000">
              <a:srgbClr val="000000">
                <a:alpha val="12000"/>
              </a:srgbClr>
            </a:outerShdw>
          </a:effectLst>
        </p:spPr>
      </p:sp>
      <p:pic>
        <p:nvPicPr>
          <p:cNvPr id="7" name="Image 0" descr="fig8_feature_importance.png">    </p:cNvPr>
          <p:cNvPicPr>
            <a:picLocks noChangeAspect="1"/>
          </p:cNvPicPr>
          <p:nvPr/>
        </p:nvPicPr>
        <p:blipFill>
          <a:blip r:embed="rId1"/>
          <a:stretch>
            <a:fillRect/>
          </a:stretch>
        </p:blipFill>
        <p:spPr>
          <a:xfrm>
            <a:off x="5806440" y="1531620"/>
            <a:ext cx="5696712" cy="4069080"/>
          </a:xfrm>
          <a:prstGeom prst="rect">
            <a:avLst/>
          </a:prstGeom>
        </p:spPr>
      </p:pic>
      <p:sp>
        <p:nvSpPr>
          <p:cNvPr id="8" name="Text 5"/>
          <p:cNvSpPr/>
          <p:nvPr/>
        </p:nvSpPr>
        <p:spPr>
          <a:xfrm>
            <a:off x="5806440" y="5897880"/>
            <a:ext cx="5833872" cy="365760"/>
          </a:xfrm>
          <a:prstGeom prst="rect">
            <a:avLst/>
          </a:prstGeom>
          <a:noFill/>
          <a:ln/>
        </p:spPr>
        <p:txBody>
          <a:bodyPr wrap="square" lIns="0" tIns="0" rIns="0" bIns="0" rtlCol="0" anchor="ctr"/>
          <a:lstStyle/>
          <a:p>
            <a:pPr algn="l" indent="0" marL="0">
              <a:buNone/>
            </a:pPr>
            <a:r>
              <a:rPr lang="en-US" sz="1100" i="1" dirty="0">
                <a:solidFill>
                  <a:srgbClr val="8A8A8A"/>
                </a:solidFill>
                <a:latin typeface="Calibri" pitchFamily="34" charset="0"/>
                <a:ea typeface="Calibri" pitchFamily="34" charset="-122"/>
                <a:cs typeface="Calibri" pitchFamily="34" charset="-120"/>
              </a:rPr>
              <a:t>Figure 8 — Feature importance (Random Forest)</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237744" cy="237744"/>
          </a:xfrm>
          <a:prstGeom prst="roundRect">
            <a:avLst>
              <a:gd name="adj" fmla="val 15385"/>
            </a:avLst>
          </a:prstGeom>
          <a:solidFill>
            <a:srgbClr val="F5B301"/>
          </a:solidFill>
          <a:ln/>
        </p:spPr>
      </p:sp>
      <p:sp>
        <p:nvSpPr>
          <p:cNvPr id="3" name="Text 1"/>
          <p:cNvSpPr/>
          <p:nvPr/>
        </p:nvSpPr>
        <p:spPr>
          <a:xfrm>
            <a:off x="932688" y="310896"/>
            <a:ext cx="10707624" cy="640080"/>
          </a:xfrm>
          <a:prstGeom prst="rect">
            <a:avLst/>
          </a:prstGeom>
          <a:noFill/>
          <a:ln/>
        </p:spPr>
        <p:txBody>
          <a:bodyPr wrap="square" lIns="0" tIns="0" rIns="0" bIns="0" rtlCol="0" anchor="ctr"/>
          <a:lstStyle/>
          <a:p>
            <a:pPr algn="l" indent="0" marL="0">
              <a:buNone/>
            </a:pPr>
            <a:r>
              <a:rPr lang="en-US" sz="3000" b="1" dirty="0">
                <a:solidFill>
                  <a:srgbClr val="1A1A1A"/>
                </a:solidFill>
                <a:latin typeface="Calibri" pitchFamily="34" charset="0"/>
                <a:ea typeface="Calibri" pitchFamily="34" charset="-122"/>
                <a:cs typeface="Calibri" pitchFamily="34" charset="-120"/>
              </a:rPr>
              <a:t>From Model to Web App</a:t>
            </a:r>
            <a:endParaRPr lang="en-US" sz="3000" dirty="0"/>
          </a:p>
        </p:txBody>
      </p:sp>
      <p:sp>
        <p:nvSpPr>
          <p:cNvPr id="4" name="Text 2"/>
          <p:cNvSpPr/>
          <p:nvPr/>
        </p:nvSpPr>
        <p:spPr>
          <a:xfrm>
            <a:off x="548640" y="1417320"/>
            <a:ext cx="5760720" cy="2926080"/>
          </a:xfrm>
          <a:prstGeom prst="rect">
            <a:avLst/>
          </a:prstGeom>
          <a:noFill/>
          <a:ln/>
        </p:spPr>
        <p:txBody>
          <a:bodyPr wrap="square" lIns="0" tIns="0" rIns="0" bIns="0" rtlCol="0" anchor="t"/>
          <a:lstStyle/>
          <a:p>
            <a:pPr algn="l" marL="177800" indent="-177800">
              <a:spcAft>
                <a:spcPts val="800"/>
              </a:spcAft>
              <a:buSzPct val="100000"/>
              <a:buChar char="•"/>
            </a:pPr>
            <a:r>
              <a:rPr lang="en-US" sz="1600" dirty="0">
                <a:solidFill>
                  <a:srgbClr val="555555"/>
                </a:solidFill>
                <a:latin typeface="Calibri" pitchFamily="34" charset="0"/>
                <a:ea typeface="Calibri" pitchFamily="34" charset="-122"/>
                <a:cs typeface="Calibri" pitchFamily="34" charset="-120"/>
              </a:rPr>
              <a:t>The trained model is saved as a small file (fare_model.pkl, 7.2 MB)</a:t>
            </a:r>
            <a:endParaRPr lang="en-US" sz="1600" dirty="0"/>
          </a:p>
          <a:p>
            <a:pPr algn="l" marL="177800" indent="-177800">
              <a:spcAft>
                <a:spcPts val="800"/>
              </a:spcAft>
              <a:buSzPct val="100000"/>
              <a:buChar char="•"/>
            </a:pPr>
            <a:r>
              <a:rPr lang="en-US" sz="1600" dirty="0">
                <a:solidFill>
                  <a:srgbClr val="555555"/>
                </a:solidFill>
                <a:latin typeface="Calibri" pitchFamily="34" charset="0"/>
                <a:ea typeface="Calibri" pitchFamily="34" charset="-122"/>
                <a:cs typeface="Calibri" pitchFamily="34" charset="-120"/>
              </a:rPr>
              <a:t>The Streamlit app loads that file — it never needs the raw data</a:t>
            </a:r>
            <a:endParaRPr lang="en-US" sz="1600" dirty="0"/>
          </a:p>
          <a:p>
            <a:pPr algn="l" marL="177800" indent="-177800">
              <a:spcAft>
                <a:spcPts val="800"/>
              </a:spcAft>
              <a:buSzPct val="100000"/>
              <a:buChar char="•"/>
            </a:pPr>
            <a:r>
              <a:rPr lang="en-US" sz="1600" dirty="0">
                <a:solidFill>
                  <a:srgbClr val="555555"/>
                </a:solidFill>
                <a:latin typeface="Calibri" pitchFamily="34" charset="0"/>
                <a:ea typeface="Calibri" pitchFamily="34" charset="-122"/>
                <a:cs typeface="Calibri" pitchFamily="34" charset="-120"/>
              </a:rPr>
              <a:t>User enters distance, passengers, rate type and pickup time</a:t>
            </a:r>
            <a:endParaRPr lang="en-US" sz="1600" dirty="0"/>
          </a:p>
          <a:p>
            <a:pPr algn="l" marL="177800" indent="-177800">
              <a:spcAft>
                <a:spcPts val="800"/>
              </a:spcAft>
              <a:buSzPct val="100000"/>
              <a:buChar char="•"/>
            </a:pPr>
            <a:r>
              <a:rPr lang="en-US" sz="1600" dirty="0">
                <a:solidFill>
                  <a:srgbClr val="555555"/>
                </a:solidFill>
                <a:latin typeface="Calibri" pitchFamily="34" charset="0"/>
                <a:ea typeface="Calibri" pitchFamily="34" charset="-122"/>
                <a:cs typeface="Calibri" pitchFamily="34" charset="-120"/>
              </a:rPr>
              <a:t>The app rebuilds the exact same feature columns, then predicts</a:t>
            </a:r>
            <a:endParaRPr lang="en-US" sz="1600" dirty="0"/>
          </a:p>
        </p:txBody>
      </p:sp>
      <p:sp>
        <p:nvSpPr>
          <p:cNvPr id="5" name="Text 3"/>
          <p:cNvSpPr/>
          <p:nvPr/>
        </p:nvSpPr>
        <p:spPr>
          <a:xfrm>
            <a:off x="548640" y="4754880"/>
            <a:ext cx="5760720" cy="914400"/>
          </a:xfrm>
          <a:prstGeom prst="rect">
            <a:avLst/>
          </a:prstGeom>
          <a:noFill/>
          <a:ln/>
        </p:spPr>
        <p:txBody>
          <a:bodyPr wrap="square" lIns="0" tIns="0" rIns="0" bIns="0" rtlCol="0" anchor="t"/>
          <a:lstStyle/>
          <a:p>
            <a:pPr indent="0" marL="0">
              <a:buNone/>
            </a:pPr>
            <a:r>
              <a:rPr lang="en-US" sz="1400" b="1" dirty="0">
                <a:solidFill>
                  <a:srgbClr val="1A1A1A"/>
                </a:solidFill>
                <a:latin typeface="Calibri" pitchFamily="34" charset="0"/>
                <a:ea typeface="Calibri" pitchFamily="34" charset="-122"/>
                <a:cs typeface="Calibri" pitchFamily="34" charset="-120"/>
              </a:rPr>
              <a:t>Key idea:  </a:t>
            </a:r>
            <a:pPr indent="0" marL="0">
              <a:buNone/>
            </a:pPr>
            <a:r>
              <a:rPr lang="en-US" sz="1400" dirty="0">
                <a:solidFill>
                  <a:srgbClr val="555555"/>
                </a:solidFill>
                <a:latin typeface="Calibri" pitchFamily="34" charset="0"/>
                <a:ea typeface="Calibri" pitchFamily="34" charset="-122"/>
                <a:cs typeface="Calibri" pitchFamily="34" charset="-120"/>
              </a:rPr>
              <a:t>the app reuses the same feature engineering as training, so the inputs always line up with the model.</a:t>
            </a:r>
            <a:endParaRPr lang="en-US" sz="1400" dirty="0"/>
          </a:p>
        </p:txBody>
      </p:sp>
      <p:sp>
        <p:nvSpPr>
          <p:cNvPr id="6" name="Shape 4"/>
          <p:cNvSpPr/>
          <p:nvPr/>
        </p:nvSpPr>
        <p:spPr>
          <a:xfrm>
            <a:off x="6858000" y="1371600"/>
            <a:ext cx="4782312" cy="4983480"/>
          </a:xfrm>
          <a:prstGeom prst="roundRect">
            <a:avLst>
              <a:gd name="adj" fmla="val 1530"/>
            </a:avLst>
          </a:prstGeom>
          <a:solidFill>
            <a:srgbClr val="FFFFFF"/>
          </a:solidFill>
          <a:ln/>
          <a:effectLst>
            <a:outerShdw sx="100000" sy="100000" kx="0" ky="0" algn="bl" rotWithShape="0" blurRad="88900" dist="38100" dir="5400000">
              <a:srgbClr val="000000">
                <a:alpha val="12000"/>
              </a:srgbClr>
            </a:outerShdw>
          </a:effectLst>
        </p:spPr>
      </p:sp>
      <p:sp>
        <p:nvSpPr>
          <p:cNvPr id="7" name="Shape 5"/>
          <p:cNvSpPr/>
          <p:nvPr/>
        </p:nvSpPr>
        <p:spPr>
          <a:xfrm>
            <a:off x="6858000" y="1371600"/>
            <a:ext cx="4782312" cy="640080"/>
          </a:xfrm>
          <a:prstGeom prst="roundRect">
            <a:avLst>
              <a:gd name="adj" fmla="val 11429"/>
            </a:avLst>
          </a:prstGeom>
          <a:solidFill>
            <a:srgbClr val="1A1A1A"/>
          </a:solidFill>
          <a:ln/>
        </p:spPr>
      </p:sp>
      <p:sp>
        <p:nvSpPr>
          <p:cNvPr id="8" name="Text 6"/>
          <p:cNvSpPr/>
          <p:nvPr/>
        </p:nvSpPr>
        <p:spPr>
          <a:xfrm>
            <a:off x="7132320" y="1371600"/>
            <a:ext cx="4233672" cy="640080"/>
          </a:xfrm>
          <a:prstGeom prst="rect">
            <a:avLst/>
          </a:prstGeom>
          <a:noFill/>
          <a:ln/>
        </p:spPr>
        <p:txBody>
          <a:bodyPr wrap="square" lIns="0" tIns="0" rIns="0" bIns="0" rtlCol="0" anchor="ctr"/>
          <a:lstStyle/>
          <a:p>
            <a:pPr indent="0" marL="0">
              <a:buNone/>
            </a:pPr>
            <a:r>
              <a:rPr lang="en-US" sz="1600" b="1" dirty="0">
                <a:solidFill>
                  <a:srgbClr val="F5B301"/>
                </a:solidFill>
                <a:latin typeface="Calibri" pitchFamily="34" charset="0"/>
                <a:ea typeface="Calibri" pitchFamily="34" charset="-122"/>
                <a:cs typeface="Calibri" pitchFamily="34" charset="-120"/>
              </a:rPr>
              <a:t>🚕  NYC Taxi Fare Predictor</a:t>
            </a:r>
            <a:endParaRPr lang="en-US" sz="1600" dirty="0"/>
          </a:p>
        </p:txBody>
      </p:sp>
      <p:sp>
        <p:nvSpPr>
          <p:cNvPr id="9" name="Text 7"/>
          <p:cNvSpPr/>
          <p:nvPr/>
        </p:nvSpPr>
        <p:spPr>
          <a:xfrm>
            <a:off x="7132320" y="2240280"/>
            <a:ext cx="4233672" cy="256032"/>
          </a:xfrm>
          <a:prstGeom prst="rect">
            <a:avLst/>
          </a:prstGeom>
          <a:noFill/>
          <a:ln/>
        </p:spPr>
        <p:txBody>
          <a:bodyPr wrap="square" lIns="0" tIns="0" rIns="0" bIns="0" rtlCol="0" anchor="ctr"/>
          <a:lstStyle/>
          <a:p>
            <a:pPr indent="0" marL="0">
              <a:buNone/>
            </a:pPr>
            <a:r>
              <a:rPr lang="en-US" sz="1150" dirty="0">
                <a:solidFill>
                  <a:srgbClr val="8A8A8A"/>
                </a:solidFill>
                <a:latin typeface="Calibri" pitchFamily="34" charset="0"/>
                <a:ea typeface="Calibri" pitchFamily="34" charset="-122"/>
                <a:cs typeface="Calibri" pitchFamily="34" charset="-120"/>
              </a:rPr>
              <a:t>Trip distance (miles)</a:t>
            </a:r>
            <a:endParaRPr lang="en-US" sz="1150" dirty="0"/>
          </a:p>
        </p:txBody>
      </p:sp>
      <p:sp>
        <p:nvSpPr>
          <p:cNvPr id="10" name="Shape 8"/>
          <p:cNvSpPr/>
          <p:nvPr/>
        </p:nvSpPr>
        <p:spPr>
          <a:xfrm>
            <a:off x="7132320" y="2514600"/>
            <a:ext cx="4233672" cy="384048"/>
          </a:xfrm>
          <a:prstGeom prst="roundRect">
            <a:avLst>
              <a:gd name="adj" fmla="val 11905"/>
            </a:avLst>
          </a:prstGeom>
          <a:solidFill>
            <a:srgbClr val="F2F2F2"/>
          </a:solidFill>
          <a:ln w="12700">
            <a:solidFill>
              <a:srgbClr val="DDDDDD"/>
            </a:solidFill>
            <a:prstDash val="solid"/>
          </a:ln>
        </p:spPr>
      </p:sp>
      <p:sp>
        <p:nvSpPr>
          <p:cNvPr id="11" name="Text 9"/>
          <p:cNvSpPr/>
          <p:nvPr/>
        </p:nvSpPr>
        <p:spPr>
          <a:xfrm>
            <a:off x="7269480" y="2514600"/>
            <a:ext cx="3959352" cy="384048"/>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3.5</a:t>
            </a:r>
            <a:endParaRPr lang="en-US" sz="1300" dirty="0"/>
          </a:p>
        </p:txBody>
      </p:sp>
      <p:sp>
        <p:nvSpPr>
          <p:cNvPr id="12" name="Text 10"/>
          <p:cNvSpPr/>
          <p:nvPr/>
        </p:nvSpPr>
        <p:spPr>
          <a:xfrm>
            <a:off x="7132320" y="2990088"/>
            <a:ext cx="4233672" cy="256032"/>
          </a:xfrm>
          <a:prstGeom prst="rect">
            <a:avLst/>
          </a:prstGeom>
          <a:noFill/>
          <a:ln/>
        </p:spPr>
        <p:txBody>
          <a:bodyPr wrap="square" lIns="0" tIns="0" rIns="0" bIns="0" rtlCol="0" anchor="ctr"/>
          <a:lstStyle/>
          <a:p>
            <a:pPr indent="0" marL="0">
              <a:buNone/>
            </a:pPr>
            <a:r>
              <a:rPr lang="en-US" sz="1150" dirty="0">
                <a:solidFill>
                  <a:srgbClr val="8A8A8A"/>
                </a:solidFill>
                <a:latin typeface="Calibri" pitchFamily="34" charset="0"/>
                <a:ea typeface="Calibri" pitchFamily="34" charset="-122"/>
                <a:cs typeface="Calibri" pitchFamily="34" charset="-120"/>
              </a:rPr>
              <a:t>Passengers</a:t>
            </a:r>
            <a:endParaRPr lang="en-US" sz="1150" dirty="0"/>
          </a:p>
        </p:txBody>
      </p:sp>
      <p:sp>
        <p:nvSpPr>
          <p:cNvPr id="13" name="Shape 11"/>
          <p:cNvSpPr/>
          <p:nvPr/>
        </p:nvSpPr>
        <p:spPr>
          <a:xfrm>
            <a:off x="7132320" y="3264408"/>
            <a:ext cx="4233672" cy="384048"/>
          </a:xfrm>
          <a:prstGeom prst="roundRect">
            <a:avLst>
              <a:gd name="adj" fmla="val 11905"/>
            </a:avLst>
          </a:prstGeom>
          <a:solidFill>
            <a:srgbClr val="F2F2F2"/>
          </a:solidFill>
          <a:ln w="12700">
            <a:solidFill>
              <a:srgbClr val="DDDDDD"/>
            </a:solidFill>
            <a:prstDash val="solid"/>
          </a:ln>
        </p:spPr>
      </p:sp>
      <p:sp>
        <p:nvSpPr>
          <p:cNvPr id="14" name="Text 12"/>
          <p:cNvSpPr/>
          <p:nvPr/>
        </p:nvSpPr>
        <p:spPr>
          <a:xfrm>
            <a:off x="7269480" y="3264408"/>
            <a:ext cx="3959352" cy="384048"/>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1</a:t>
            </a:r>
            <a:endParaRPr lang="en-US" sz="1300" dirty="0"/>
          </a:p>
        </p:txBody>
      </p:sp>
      <p:sp>
        <p:nvSpPr>
          <p:cNvPr id="15" name="Text 13"/>
          <p:cNvSpPr/>
          <p:nvPr/>
        </p:nvSpPr>
        <p:spPr>
          <a:xfrm>
            <a:off x="7132320" y="3739896"/>
            <a:ext cx="4233672" cy="256032"/>
          </a:xfrm>
          <a:prstGeom prst="rect">
            <a:avLst/>
          </a:prstGeom>
          <a:noFill/>
          <a:ln/>
        </p:spPr>
        <p:txBody>
          <a:bodyPr wrap="square" lIns="0" tIns="0" rIns="0" bIns="0" rtlCol="0" anchor="ctr"/>
          <a:lstStyle/>
          <a:p>
            <a:pPr indent="0" marL="0">
              <a:buNone/>
            </a:pPr>
            <a:r>
              <a:rPr lang="en-US" sz="1150" dirty="0">
                <a:solidFill>
                  <a:srgbClr val="8A8A8A"/>
                </a:solidFill>
                <a:latin typeface="Calibri" pitchFamily="34" charset="0"/>
                <a:ea typeface="Calibri" pitchFamily="34" charset="-122"/>
                <a:cs typeface="Calibri" pitchFamily="34" charset="-120"/>
              </a:rPr>
              <a:t>Rate type</a:t>
            </a:r>
            <a:endParaRPr lang="en-US" sz="1150" dirty="0"/>
          </a:p>
        </p:txBody>
      </p:sp>
      <p:sp>
        <p:nvSpPr>
          <p:cNvPr id="16" name="Shape 14"/>
          <p:cNvSpPr/>
          <p:nvPr/>
        </p:nvSpPr>
        <p:spPr>
          <a:xfrm>
            <a:off x="7132320" y="4014216"/>
            <a:ext cx="4233672" cy="384048"/>
          </a:xfrm>
          <a:prstGeom prst="roundRect">
            <a:avLst>
              <a:gd name="adj" fmla="val 11905"/>
            </a:avLst>
          </a:prstGeom>
          <a:solidFill>
            <a:srgbClr val="F2F2F2"/>
          </a:solidFill>
          <a:ln w="12700">
            <a:solidFill>
              <a:srgbClr val="DDDDDD"/>
            </a:solidFill>
            <a:prstDash val="solid"/>
          </a:ln>
        </p:spPr>
      </p:sp>
      <p:sp>
        <p:nvSpPr>
          <p:cNvPr id="17" name="Text 15"/>
          <p:cNvSpPr/>
          <p:nvPr/>
        </p:nvSpPr>
        <p:spPr>
          <a:xfrm>
            <a:off x="7269480" y="4014216"/>
            <a:ext cx="3959352" cy="384048"/>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Standard rate</a:t>
            </a:r>
            <a:endParaRPr lang="en-US" sz="1300" dirty="0"/>
          </a:p>
        </p:txBody>
      </p:sp>
      <p:sp>
        <p:nvSpPr>
          <p:cNvPr id="18" name="Text 16"/>
          <p:cNvSpPr/>
          <p:nvPr/>
        </p:nvSpPr>
        <p:spPr>
          <a:xfrm>
            <a:off x="7132320" y="4489704"/>
            <a:ext cx="4233672" cy="256032"/>
          </a:xfrm>
          <a:prstGeom prst="rect">
            <a:avLst/>
          </a:prstGeom>
          <a:noFill/>
          <a:ln/>
        </p:spPr>
        <p:txBody>
          <a:bodyPr wrap="square" lIns="0" tIns="0" rIns="0" bIns="0" rtlCol="0" anchor="ctr"/>
          <a:lstStyle/>
          <a:p>
            <a:pPr indent="0" marL="0">
              <a:buNone/>
            </a:pPr>
            <a:r>
              <a:rPr lang="en-US" sz="1150" dirty="0">
                <a:solidFill>
                  <a:srgbClr val="8A8A8A"/>
                </a:solidFill>
                <a:latin typeface="Calibri" pitchFamily="34" charset="0"/>
                <a:ea typeface="Calibri" pitchFamily="34" charset="-122"/>
                <a:cs typeface="Calibri" pitchFamily="34" charset="-120"/>
              </a:rPr>
              <a:t>Pickup</a:t>
            </a:r>
            <a:endParaRPr lang="en-US" sz="1150" dirty="0"/>
          </a:p>
        </p:txBody>
      </p:sp>
      <p:sp>
        <p:nvSpPr>
          <p:cNvPr id="19" name="Shape 17"/>
          <p:cNvSpPr/>
          <p:nvPr/>
        </p:nvSpPr>
        <p:spPr>
          <a:xfrm>
            <a:off x="7132320" y="4764024"/>
            <a:ext cx="4233672" cy="384048"/>
          </a:xfrm>
          <a:prstGeom prst="roundRect">
            <a:avLst>
              <a:gd name="adj" fmla="val 11905"/>
            </a:avLst>
          </a:prstGeom>
          <a:solidFill>
            <a:srgbClr val="F2F2F2"/>
          </a:solidFill>
          <a:ln w="12700">
            <a:solidFill>
              <a:srgbClr val="DDDDDD"/>
            </a:solidFill>
            <a:prstDash val="solid"/>
          </a:ln>
        </p:spPr>
      </p:sp>
      <p:sp>
        <p:nvSpPr>
          <p:cNvPr id="20" name="Text 18"/>
          <p:cNvSpPr/>
          <p:nvPr/>
        </p:nvSpPr>
        <p:spPr>
          <a:xfrm>
            <a:off x="7269480" y="4764024"/>
            <a:ext cx="3959352" cy="384048"/>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Fri, 6:00 PM</a:t>
            </a:r>
            <a:endParaRPr lang="en-US" sz="1300" dirty="0"/>
          </a:p>
        </p:txBody>
      </p:sp>
      <p:sp>
        <p:nvSpPr>
          <p:cNvPr id="21" name="Shape 19"/>
          <p:cNvSpPr/>
          <p:nvPr/>
        </p:nvSpPr>
        <p:spPr>
          <a:xfrm>
            <a:off x="7132320" y="5257800"/>
            <a:ext cx="4233672" cy="457200"/>
          </a:xfrm>
          <a:prstGeom prst="roundRect">
            <a:avLst>
              <a:gd name="adj" fmla="val 12000"/>
            </a:avLst>
          </a:prstGeom>
          <a:solidFill>
            <a:srgbClr val="F5B301"/>
          </a:solidFill>
          <a:ln/>
        </p:spPr>
      </p:sp>
      <p:sp>
        <p:nvSpPr>
          <p:cNvPr id="22" name="Text 20"/>
          <p:cNvSpPr/>
          <p:nvPr/>
        </p:nvSpPr>
        <p:spPr>
          <a:xfrm>
            <a:off x="7132320" y="5257800"/>
            <a:ext cx="4233672" cy="457200"/>
          </a:xfrm>
          <a:prstGeom prst="rect">
            <a:avLst/>
          </a:prstGeom>
          <a:noFill/>
          <a:ln/>
        </p:spPr>
        <p:txBody>
          <a:bodyPr wrap="square" lIns="0" tIns="0" rIns="0" bIns="0"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Predict Fare</a:t>
            </a:r>
            <a:endParaRPr lang="en-US" sz="1400" dirty="0"/>
          </a:p>
        </p:txBody>
      </p:sp>
      <p:sp>
        <p:nvSpPr>
          <p:cNvPr id="23" name="Text 21"/>
          <p:cNvSpPr/>
          <p:nvPr/>
        </p:nvSpPr>
        <p:spPr>
          <a:xfrm>
            <a:off x="7132320" y="5806440"/>
            <a:ext cx="4233672" cy="365760"/>
          </a:xfrm>
          <a:prstGeom prst="rect">
            <a:avLst/>
          </a:prstGeom>
          <a:noFill/>
          <a:ln/>
        </p:spPr>
        <p:txBody>
          <a:bodyPr wrap="square" lIns="0" tIns="0" rIns="0" bIns="0" rtlCol="0" anchor="ctr"/>
          <a:lstStyle/>
          <a:p>
            <a:pPr algn="ctr" indent="0" marL="0">
              <a:buNone/>
            </a:pPr>
            <a:r>
              <a:rPr lang="en-US" sz="1600" dirty="0">
                <a:solidFill>
                  <a:srgbClr val="555555"/>
                </a:solidFill>
                <a:latin typeface="Calibri" pitchFamily="34" charset="0"/>
                <a:ea typeface="Calibri" pitchFamily="34" charset="-122"/>
                <a:cs typeface="Calibri" pitchFamily="34" charset="-120"/>
              </a:rPr>
              <a:t>Estimated fare:  </a:t>
            </a:r>
            <a:pPr algn="ctr" indent="0" marL="0">
              <a:buNone/>
            </a:pPr>
            <a:r>
              <a:rPr lang="en-US" sz="1600" b="1" dirty="0">
                <a:solidFill>
                  <a:srgbClr val="1A1A1A"/>
                </a:solidFill>
                <a:latin typeface="Calibri" pitchFamily="34" charset="0"/>
                <a:ea typeface="Calibri" pitchFamily="34" charset="-122"/>
                <a:cs typeface="Calibri" pitchFamily="34" charset="-120"/>
              </a:rPr>
              <a:t>$14.20</a:t>
            </a:r>
            <a:endParaRPr lang="en-US" sz="1600" dirty="0"/>
          </a:p>
        </p:txBody>
      </p:sp>
      <p:sp>
        <p:nvSpPr>
          <p:cNvPr id="24" name="Text 22"/>
          <p:cNvSpPr/>
          <p:nvPr/>
        </p:nvSpPr>
        <p:spPr>
          <a:xfrm>
            <a:off x="6858000" y="6400800"/>
            <a:ext cx="4782312" cy="365760"/>
          </a:xfrm>
          <a:prstGeom prst="rect">
            <a:avLst/>
          </a:prstGeom>
          <a:noFill/>
          <a:ln/>
        </p:spPr>
        <p:txBody>
          <a:bodyPr wrap="square" lIns="0" tIns="0" rIns="0" bIns="0" rtlCol="0" anchor="ctr"/>
          <a:lstStyle/>
          <a:p>
            <a:pPr algn="l" indent="0" marL="0">
              <a:buNone/>
            </a:pPr>
            <a:r>
              <a:rPr lang="en-US" sz="1100" i="1" dirty="0">
                <a:solidFill>
                  <a:srgbClr val="8A8A8A"/>
                </a:solidFill>
                <a:latin typeface="Calibri" pitchFamily="34" charset="0"/>
                <a:ea typeface="Calibri" pitchFamily="34" charset="-122"/>
                <a:cs typeface="Calibri" pitchFamily="34" charset="-120"/>
              </a:rPr>
              <a:t>Mock-up of the Streamlit interface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237744" cy="237744"/>
          </a:xfrm>
          <a:prstGeom prst="roundRect">
            <a:avLst>
              <a:gd name="adj" fmla="val 15385"/>
            </a:avLst>
          </a:prstGeom>
          <a:solidFill>
            <a:srgbClr val="F5B301"/>
          </a:solidFill>
          <a:ln/>
        </p:spPr>
      </p:sp>
      <p:sp>
        <p:nvSpPr>
          <p:cNvPr id="3" name="Text 1"/>
          <p:cNvSpPr/>
          <p:nvPr/>
        </p:nvSpPr>
        <p:spPr>
          <a:xfrm>
            <a:off x="932688" y="310896"/>
            <a:ext cx="10707624" cy="640080"/>
          </a:xfrm>
          <a:prstGeom prst="rect">
            <a:avLst/>
          </a:prstGeom>
          <a:noFill/>
          <a:ln/>
        </p:spPr>
        <p:txBody>
          <a:bodyPr wrap="square" lIns="0" tIns="0" rIns="0" bIns="0" rtlCol="0" anchor="ctr"/>
          <a:lstStyle/>
          <a:p>
            <a:pPr algn="l" indent="0" marL="0">
              <a:buNone/>
            </a:pPr>
            <a:r>
              <a:rPr lang="en-US" sz="3000" b="1" dirty="0">
                <a:solidFill>
                  <a:srgbClr val="1A1A1A"/>
                </a:solidFill>
                <a:latin typeface="Calibri" pitchFamily="34" charset="0"/>
                <a:ea typeface="Calibri" pitchFamily="34" charset="-122"/>
                <a:cs typeface="Calibri" pitchFamily="34" charset="-120"/>
              </a:rPr>
              <a:t>Conclusion &amp; Next Steps</a:t>
            </a:r>
            <a:endParaRPr lang="en-US" sz="3000" dirty="0"/>
          </a:p>
        </p:txBody>
      </p:sp>
      <p:sp>
        <p:nvSpPr>
          <p:cNvPr id="4" name="Shape 2"/>
          <p:cNvSpPr/>
          <p:nvPr/>
        </p:nvSpPr>
        <p:spPr>
          <a:xfrm>
            <a:off x="548640" y="1417320"/>
            <a:ext cx="5317236" cy="4206240"/>
          </a:xfrm>
          <a:prstGeom prst="roundRect">
            <a:avLst>
              <a:gd name="adj" fmla="val 1739"/>
            </a:avLst>
          </a:prstGeom>
          <a:solidFill>
            <a:srgbClr val="FFFFFF"/>
          </a:solidFill>
          <a:ln/>
          <a:effectLst>
            <a:outerShdw sx="100000" sy="100000" kx="0" ky="0" algn="bl" rotWithShape="0" blurRad="88900" dist="38100" dir="5400000">
              <a:srgbClr val="000000">
                <a:alpha val="12000"/>
              </a:srgbClr>
            </a:outerShdw>
          </a:effectLst>
        </p:spPr>
      </p:sp>
      <p:sp>
        <p:nvSpPr>
          <p:cNvPr id="5" name="Shape 3"/>
          <p:cNvSpPr/>
          <p:nvPr/>
        </p:nvSpPr>
        <p:spPr>
          <a:xfrm>
            <a:off x="548640" y="1417320"/>
            <a:ext cx="5317236" cy="548640"/>
          </a:xfrm>
          <a:prstGeom prst="roundRect">
            <a:avLst>
              <a:gd name="adj" fmla="val 13333"/>
            </a:avLst>
          </a:prstGeom>
          <a:solidFill>
            <a:srgbClr val="F5B301"/>
          </a:solidFill>
          <a:ln/>
        </p:spPr>
      </p:sp>
      <p:sp>
        <p:nvSpPr>
          <p:cNvPr id="6" name="Text 4"/>
          <p:cNvSpPr/>
          <p:nvPr/>
        </p:nvSpPr>
        <p:spPr>
          <a:xfrm>
            <a:off x="777240" y="1417320"/>
            <a:ext cx="4860036" cy="548640"/>
          </a:xfrm>
          <a:prstGeom prst="rect">
            <a:avLst/>
          </a:prstGeom>
          <a:noFill/>
          <a:ln/>
        </p:spPr>
        <p:txBody>
          <a:bodyPr wrap="square" lIns="0" tIns="0" rIns="0" bIns="0"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What was achieved</a:t>
            </a:r>
            <a:endParaRPr lang="en-US" sz="1700" dirty="0"/>
          </a:p>
        </p:txBody>
      </p:sp>
      <p:sp>
        <p:nvSpPr>
          <p:cNvPr id="7" name="Text 5"/>
          <p:cNvSpPr/>
          <p:nvPr/>
        </p:nvSpPr>
        <p:spPr>
          <a:xfrm>
            <a:off x="822960" y="2148840"/>
            <a:ext cx="4768596" cy="3291840"/>
          </a:xfrm>
          <a:prstGeom prst="rect">
            <a:avLst/>
          </a:prstGeom>
          <a:noFill/>
          <a:ln/>
        </p:spPr>
        <p:txBody>
          <a:bodyPr wrap="square" lIns="0" tIns="0" rIns="0" bIns="0" rtlCol="0" anchor="t"/>
          <a:lstStyle/>
          <a:p>
            <a:pPr algn="l" marL="177800" indent="-177800">
              <a:spcAft>
                <a:spcPts val="800"/>
              </a:spcAft>
              <a:buSzPct val="100000"/>
              <a:buChar char="•"/>
            </a:pPr>
            <a:r>
              <a:rPr lang="en-US" sz="1550" dirty="0">
                <a:solidFill>
                  <a:srgbClr val="555555"/>
                </a:solidFill>
                <a:latin typeface="Calibri" pitchFamily="34" charset="0"/>
                <a:ea typeface="Calibri" pitchFamily="34" charset="-122"/>
                <a:cs typeface="Calibri" pitchFamily="34" charset="-120"/>
              </a:rPr>
              <a:t>End-to-end pipeline: clean → train → evaluate → app</a:t>
            </a:r>
            <a:endParaRPr lang="en-US" sz="1550" dirty="0"/>
          </a:p>
          <a:p>
            <a:pPr algn="l" marL="177800" indent="-177800">
              <a:spcAft>
                <a:spcPts val="800"/>
              </a:spcAft>
              <a:buSzPct val="100000"/>
              <a:buChar char="•"/>
            </a:pPr>
            <a:r>
              <a:rPr lang="en-US" sz="1550" dirty="0">
                <a:solidFill>
                  <a:srgbClr val="555555"/>
                </a:solidFill>
                <a:latin typeface="Calibri" pitchFamily="34" charset="0"/>
                <a:ea typeface="Calibri" pitchFamily="34" charset="-122"/>
                <a:cs typeface="Calibri" pitchFamily="34" charset="-120"/>
              </a:rPr>
              <a:t>Random Forest beat the baseline (R² 0.918, ±$2.63)</a:t>
            </a:r>
            <a:endParaRPr lang="en-US" sz="1550" dirty="0"/>
          </a:p>
          <a:p>
            <a:pPr algn="l" marL="177800" indent="-177800">
              <a:spcAft>
                <a:spcPts val="800"/>
              </a:spcAft>
              <a:buSzPct val="100000"/>
              <a:buChar char="•"/>
            </a:pPr>
            <a:r>
              <a:rPr lang="en-US" sz="1550" dirty="0">
                <a:solidFill>
                  <a:srgbClr val="555555"/>
                </a:solidFill>
                <a:latin typeface="Calibri" pitchFamily="34" charset="0"/>
                <a:ea typeface="Calibri" pitchFamily="34" charset="-122"/>
                <a:cs typeface="Calibri" pitchFamily="34" charset="-120"/>
              </a:rPr>
              <a:t>Avoided data leakage by predicting only the meter fare</a:t>
            </a:r>
            <a:endParaRPr lang="en-US" sz="1550" dirty="0"/>
          </a:p>
          <a:p>
            <a:pPr algn="l" marL="177800" indent="-177800">
              <a:spcAft>
                <a:spcPts val="800"/>
              </a:spcAft>
              <a:buSzPct val="100000"/>
              <a:buChar char="•"/>
            </a:pPr>
            <a:r>
              <a:rPr lang="en-US" sz="1550" dirty="0">
                <a:solidFill>
                  <a:srgbClr val="555555"/>
                </a:solidFill>
                <a:latin typeface="Calibri" pitchFamily="34" charset="0"/>
                <a:ea typeface="Calibri" pitchFamily="34" charset="-122"/>
                <a:cs typeface="Calibri" pitchFamily="34" charset="-120"/>
              </a:rPr>
              <a:t>Working web app that predicts in real time</a:t>
            </a:r>
            <a:endParaRPr lang="en-US" sz="1550" dirty="0"/>
          </a:p>
        </p:txBody>
      </p:sp>
      <p:sp>
        <p:nvSpPr>
          <p:cNvPr id="8" name="Shape 6"/>
          <p:cNvSpPr/>
          <p:nvPr/>
        </p:nvSpPr>
        <p:spPr>
          <a:xfrm>
            <a:off x="6323076" y="1417320"/>
            <a:ext cx="5317236" cy="4206240"/>
          </a:xfrm>
          <a:prstGeom prst="roundRect">
            <a:avLst>
              <a:gd name="adj" fmla="val 1739"/>
            </a:avLst>
          </a:prstGeom>
          <a:solidFill>
            <a:srgbClr val="FFFFFF"/>
          </a:solidFill>
          <a:ln/>
          <a:effectLst>
            <a:outerShdw sx="100000" sy="100000" kx="0" ky="0" algn="bl" rotWithShape="0" blurRad="88900" dist="38100" dir="5400000">
              <a:srgbClr val="000000">
                <a:alpha val="12000"/>
              </a:srgbClr>
            </a:outerShdw>
          </a:effectLst>
        </p:spPr>
      </p:sp>
      <p:sp>
        <p:nvSpPr>
          <p:cNvPr id="9" name="Shape 7"/>
          <p:cNvSpPr/>
          <p:nvPr/>
        </p:nvSpPr>
        <p:spPr>
          <a:xfrm>
            <a:off x="6323076" y="1417320"/>
            <a:ext cx="5317236" cy="548640"/>
          </a:xfrm>
          <a:prstGeom prst="roundRect">
            <a:avLst>
              <a:gd name="adj" fmla="val 13333"/>
            </a:avLst>
          </a:prstGeom>
          <a:solidFill>
            <a:srgbClr val="2B2B2B"/>
          </a:solidFill>
          <a:ln/>
        </p:spPr>
      </p:sp>
      <p:sp>
        <p:nvSpPr>
          <p:cNvPr id="10" name="Text 8"/>
          <p:cNvSpPr/>
          <p:nvPr/>
        </p:nvSpPr>
        <p:spPr>
          <a:xfrm>
            <a:off x="6551676" y="1417320"/>
            <a:ext cx="4860036" cy="5486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Limitations &amp; future work</a:t>
            </a:r>
            <a:endParaRPr lang="en-US" sz="1700" dirty="0"/>
          </a:p>
        </p:txBody>
      </p:sp>
      <p:sp>
        <p:nvSpPr>
          <p:cNvPr id="11" name="Text 9"/>
          <p:cNvSpPr/>
          <p:nvPr/>
        </p:nvSpPr>
        <p:spPr>
          <a:xfrm>
            <a:off x="6597396" y="2148840"/>
            <a:ext cx="4768596" cy="3291840"/>
          </a:xfrm>
          <a:prstGeom prst="rect">
            <a:avLst/>
          </a:prstGeom>
          <a:noFill/>
          <a:ln/>
        </p:spPr>
        <p:txBody>
          <a:bodyPr wrap="square" lIns="0" tIns="0" rIns="0" bIns="0" rtlCol="0" anchor="t"/>
          <a:lstStyle/>
          <a:p>
            <a:pPr algn="l" marL="177800" indent="-177800">
              <a:spcAft>
                <a:spcPts val="800"/>
              </a:spcAft>
              <a:buSzPct val="100000"/>
              <a:buChar char="•"/>
            </a:pPr>
            <a:r>
              <a:rPr lang="en-US" sz="1550" dirty="0">
                <a:solidFill>
                  <a:srgbClr val="555555"/>
                </a:solidFill>
                <a:latin typeface="Calibri" pitchFamily="34" charset="0"/>
                <a:ea typeface="Calibri" pitchFamily="34" charset="-122"/>
                <a:cs typeface="Calibri" pitchFamily="34" charset="-120"/>
              </a:rPr>
              <a:t>Predicts base fare only — no tips, tolls or surcharges</a:t>
            </a:r>
            <a:endParaRPr lang="en-US" sz="1550" dirty="0"/>
          </a:p>
          <a:p>
            <a:pPr algn="l" marL="177800" indent="-177800">
              <a:spcAft>
                <a:spcPts val="800"/>
              </a:spcAft>
              <a:buSzPct val="100000"/>
              <a:buChar char="•"/>
            </a:pPr>
            <a:r>
              <a:rPr lang="en-US" sz="1550" dirty="0">
                <a:solidFill>
                  <a:srgbClr val="555555"/>
                </a:solidFill>
                <a:latin typeface="Calibri" pitchFamily="34" charset="0"/>
                <a:ea typeface="Calibri" pitchFamily="34" charset="-122"/>
                <a:cs typeface="Calibri" pitchFamily="34" charset="-120"/>
              </a:rPr>
              <a:t>Trained on 2025 NYC data; may not fit other cities/years</a:t>
            </a:r>
            <a:endParaRPr lang="en-US" sz="1550" dirty="0"/>
          </a:p>
          <a:p>
            <a:pPr algn="l" marL="177800" indent="-177800">
              <a:spcAft>
                <a:spcPts val="800"/>
              </a:spcAft>
              <a:buSzPct val="100000"/>
              <a:buChar char="•"/>
            </a:pPr>
            <a:r>
              <a:rPr lang="en-US" sz="1550" dirty="0">
                <a:solidFill>
                  <a:srgbClr val="555555"/>
                </a:solidFill>
                <a:latin typeface="Calibri" pitchFamily="34" charset="0"/>
                <a:ea typeface="Calibri" pitchFamily="34" charset="-122"/>
                <a:cs typeface="Calibri" pitchFamily="34" charset="-120"/>
              </a:rPr>
              <a:t>Fare is heavily distance-driven by design</a:t>
            </a:r>
            <a:endParaRPr lang="en-US" sz="1550" dirty="0"/>
          </a:p>
          <a:p>
            <a:pPr algn="l" marL="177800" indent="-177800">
              <a:spcAft>
                <a:spcPts val="800"/>
              </a:spcAft>
              <a:buSzPct val="100000"/>
              <a:buChar char="•"/>
            </a:pPr>
            <a:r>
              <a:rPr lang="en-US" sz="1550" dirty="0">
                <a:solidFill>
                  <a:srgbClr val="555555"/>
                </a:solidFill>
                <a:latin typeface="Calibri" pitchFamily="34" charset="0"/>
                <a:ea typeface="Calibri" pitchFamily="34" charset="-122"/>
                <a:cs typeface="Calibri" pitchFamily="34" charset="-120"/>
              </a:rPr>
              <a:t>Next: add pickup/dropoff zones for geography</a:t>
            </a:r>
            <a:endParaRPr lang="en-US" sz="1550" dirty="0"/>
          </a:p>
          <a:p>
            <a:pPr algn="l" marL="177800" indent="-177800">
              <a:spcAft>
                <a:spcPts val="800"/>
              </a:spcAft>
              <a:buSzPct val="100000"/>
              <a:buChar char="•"/>
            </a:pPr>
            <a:r>
              <a:rPr lang="en-US" sz="1550" dirty="0">
                <a:solidFill>
                  <a:srgbClr val="555555"/>
                </a:solidFill>
                <a:latin typeface="Calibri" pitchFamily="34" charset="0"/>
                <a:ea typeface="Calibri" pitchFamily="34" charset="-122"/>
                <a:cs typeface="Calibri" pitchFamily="34" charset="-120"/>
              </a:rPr>
              <a:t>Next: deploy the app online for public access</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548640" y="2286000"/>
            <a:ext cx="310896" cy="310896"/>
          </a:xfrm>
          <a:prstGeom prst="roundRect">
            <a:avLst>
              <a:gd name="adj" fmla="val 14706"/>
            </a:avLst>
          </a:prstGeom>
          <a:solidFill>
            <a:srgbClr val="F5B301"/>
          </a:solidFill>
          <a:ln/>
        </p:spPr>
      </p:sp>
      <p:sp>
        <p:nvSpPr>
          <p:cNvPr id="3" name="Shape 1"/>
          <p:cNvSpPr/>
          <p:nvPr/>
        </p:nvSpPr>
        <p:spPr>
          <a:xfrm>
            <a:off x="1005840" y="2286000"/>
            <a:ext cx="310896" cy="310896"/>
          </a:xfrm>
          <a:prstGeom prst="roundRect">
            <a:avLst>
              <a:gd name="adj" fmla="val 14706"/>
            </a:avLst>
          </a:prstGeom>
          <a:solidFill>
            <a:srgbClr val="F5B301"/>
          </a:solidFill>
          <a:ln/>
        </p:spPr>
      </p:sp>
      <p:sp>
        <p:nvSpPr>
          <p:cNvPr id="4" name="Shape 2"/>
          <p:cNvSpPr/>
          <p:nvPr/>
        </p:nvSpPr>
        <p:spPr>
          <a:xfrm>
            <a:off x="1463040" y="2286000"/>
            <a:ext cx="310896" cy="310896"/>
          </a:xfrm>
          <a:prstGeom prst="roundRect">
            <a:avLst>
              <a:gd name="adj" fmla="val 14706"/>
            </a:avLst>
          </a:prstGeom>
          <a:solidFill>
            <a:srgbClr val="F5B301"/>
          </a:solidFill>
          <a:ln/>
        </p:spPr>
      </p:sp>
      <p:sp>
        <p:nvSpPr>
          <p:cNvPr id="5" name="Text 3"/>
          <p:cNvSpPr/>
          <p:nvPr/>
        </p:nvSpPr>
        <p:spPr>
          <a:xfrm>
            <a:off x="548640" y="2926080"/>
            <a:ext cx="11091672" cy="914400"/>
          </a:xfrm>
          <a:prstGeom prst="rect">
            <a:avLst/>
          </a:prstGeom>
          <a:noFill/>
          <a:ln/>
        </p:spPr>
        <p:txBody>
          <a:bodyPr wrap="square" lIns="0" tIns="0" rIns="0" bIns="0" rtlCol="0" anchor="ctr"/>
          <a:lstStyle/>
          <a:p>
            <a:pPr indent="0" marL="0">
              <a:buNone/>
            </a:pPr>
            <a:r>
              <a:rPr lang="en-US" sz="5000" b="1" dirty="0">
                <a:solidFill>
                  <a:srgbClr val="FFFFFF"/>
                </a:solidFill>
                <a:latin typeface="Calibri" pitchFamily="34" charset="0"/>
                <a:ea typeface="Calibri" pitchFamily="34" charset="-122"/>
                <a:cs typeface="Calibri" pitchFamily="34" charset="-120"/>
              </a:rPr>
              <a:t>Thank you</a:t>
            </a:r>
            <a:endParaRPr lang="en-US" sz="5000" dirty="0"/>
          </a:p>
        </p:txBody>
      </p:sp>
      <p:sp>
        <p:nvSpPr>
          <p:cNvPr id="6" name="Text 4"/>
          <p:cNvSpPr/>
          <p:nvPr/>
        </p:nvSpPr>
        <p:spPr>
          <a:xfrm>
            <a:off x="548640" y="3931920"/>
            <a:ext cx="11091672" cy="548640"/>
          </a:xfrm>
          <a:prstGeom prst="rect">
            <a:avLst/>
          </a:prstGeom>
          <a:noFill/>
          <a:ln/>
        </p:spPr>
        <p:txBody>
          <a:bodyPr wrap="square" lIns="0" tIns="0" rIns="0" bIns="0" rtlCol="0" anchor="ctr"/>
          <a:lstStyle/>
          <a:p>
            <a:pPr indent="0" marL="0">
              <a:buNone/>
            </a:pPr>
            <a:r>
              <a:rPr lang="en-US" sz="2200" dirty="0">
                <a:solidFill>
                  <a:srgbClr val="F5B301"/>
                </a:solidFill>
                <a:latin typeface="Calibri" pitchFamily="34" charset="0"/>
                <a:ea typeface="Calibri" pitchFamily="34" charset="-122"/>
                <a:cs typeface="Calibri" pitchFamily="34" charset="-120"/>
              </a:rPr>
              <a:t>Questions?</a:t>
            </a:r>
            <a:endParaRPr lang="en-US" sz="2200" dirty="0"/>
          </a:p>
        </p:txBody>
      </p:sp>
      <p:sp>
        <p:nvSpPr>
          <p:cNvPr id="7" name="Text 5"/>
          <p:cNvSpPr/>
          <p:nvPr/>
        </p:nvSpPr>
        <p:spPr>
          <a:xfrm>
            <a:off x="548640" y="5486400"/>
            <a:ext cx="7315200" cy="7315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Wai Yan Tun</a:t>
            </a:r>
            <a:endParaRPr lang="en-US" sz="1400" dirty="0"/>
          </a:p>
          <a:p>
            <a:pPr indent="0" marL="0">
              <a:buNone/>
            </a:pPr>
            <a:r>
              <a:rPr lang="en-US" sz="1400" dirty="0">
                <a:solidFill>
                  <a:srgbClr val="8A8A8A"/>
                </a:solidFill>
                <a:latin typeface="Calibri" pitchFamily="34" charset="0"/>
                <a:ea typeface="Calibri" pitchFamily="34" charset="-122"/>
                <a:cs typeface="Calibri" pitchFamily="34" charset="-120"/>
              </a:rPr>
              <a:t>github.com/Waiyan172</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NYC Taxi Fare Prediction</dc:title>
  <dc:subject>PptxGenJS Presentation</dc:subject>
  <dc:creator>Wai Yan Tun</dc:creator>
  <cp:lastModifiedBy>Wai Yan Tun</cp:lastModifiedBy>
  <cp:revision>1</cp:revision>
  <dcterms:created xsi:type="dcterms:W3CDTF">2026-06-27T09:53:21Z</dcterms:created>
  <dcterms:modified xsi:type="dcterms:W3CDTF">2026-06-27T09:53:21Z</dcterms:modified>
</cp:coreProperties>
</file>